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sldIdLst>
    <p:sldId id="256" r:id="rId2"/>
  </p:sldIdLst>
  <p:sldSz cx="10080625" cy="567055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38" autoAdjust="0"/>
  </p:normalViewPr>
  <p:slideViewPr>
    <p:cSldViewPr snapToGrid="0">
      <p:cViewPr varScale="1">
        <p:scale>
          <a:sx n="89" d="100"/>
          <a:sy n="89" d="100"/>
        </p:scale>
        <p:origin x="356"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endParaRPr lang="en-US" sz="4400" b="0" u="none" strike="noStrike">
              <a:solidFill>
                <a:srgbClr val="FFFFFF"/>
              </a:solidFill>
              <a:uFillTx/>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B3431481-FBE4-4E37-8C2D-41785D9AD567}"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755280" y="503640"/>
            <a:ext cx="8559720" cy="802080"/>
          </a:xfrm>
          <a:prstGeom prst="rect">
            <a:avLst/>
          </a:prstGeom>
          <a:noFill/>
          <a:ln w="0">
            <a:noFill/>
          </a:ln>
          <a:effectLst>
            <a:outerShdw rotWithShape="0">
              <a:srgbClr val="000000">
                <a:alpha val="46000"/>
              </a:srgbClr>
            </a:outerShdw>
          </a:effectLst>
        </p:spPr>
        <p:txBody>
          <a:bodyPr lIns="91440" tIns="45720" rIns="91440" bIns="45720" anchor="ctr">
            <a:noAutofit/>
          </a:bodyPr>
          <a:lstStyle/>
          <a:p>
            <a:pPr indent="0" algn="ctr">
              <a:lnSpc>
                <a:spcPct val="100000"/>
              </a:lnSpc>
              <a:buNone/>
            </a:pPr>
            <a:r>
              <a:rPr lang="en-US" sz="4000" b="0" u="none" strike="noStrike">
                <a:solidFill>
                  <a:srgbClr val="E3E3E3"/>
                </a:solidFill>
                <a:uFillTx/>
                <a:latin typeface="Calisto MT"/>
              </a:rPr>
              <a:t>Click to edit Master title style</a:t>
            </a:r>
            <a:endParaRPr lang="en-US" sz="4000" b="0" u="none" strike="noStrike">
              <a:solidFill>
                <a:srgbClr val="FFFFFF"/>
              </a:solidFill>
              <a:uFillTx/>
              <a:latin typeface="Calisto MT"/>
            </a:endParaRPr>
          </a:p>
        </p:txBody>
      </p:sp>
      <p:sp>
        <p:nvSpPr>
          <p:cNvPr id="8" name="PlaceHolder 2"/>
          <p:cNvSpPr>
            <a:spLocks noGrp="1"/>
          </p:cNvSpPr>
          <p:nvPr>
            <p:ph type="dt" idx="4"/>
          </p:nvPr>
        </p:nvSpPr>
        <p:spPr>
          <a:xfrm>
            <a:off x="6348240" y="4863960"/>
            <a:ext cx="2267640" cy="301680"/>
          </a:xfrm>
          <a:prstGeom prst="rect">
            <a:avLst/>
          </a:prstGeom>
          <a:noFill/>
          <a:ln w="0">
            <a:noFill/>
          </a:ln>
        </p:spPr>
        <p:txBody>
          <a:bodyPr lIns="91440" tIns="45720" rIns="91440" bIns="45720" anchor="ctr">
            <a:noAutofit/>
          </a:bodyPr>
          <a:lstStyle>
            <a:lvl1pPr indent="0" algn="r">
              <a:lnSpc>
                <a:spcPct val="100000"/>
              </a:lnSpc>
              <a:buNone/>
              <a:defRPr lang="en-US" sz="1000" b="0" u="none" strike="noStrike">
                <a:solidFill>
                  <a:srgbClr val="F2F2F2"/>
                </a:solidFill>
                <a:uFillTx/>
                <a:latin typeface="Calisto MT"/>
              </a:defRPr>
            </a:lvl1pPr>
          </a:lstStyle>
          <a:p>
            <a:pPr indent="0" algn="r">
              <a:lnSpc>
                <a:spcPct val="100000"/>
              </a:lnSpc>
              <a:buNone/>
            </a:pPr>
            <a:fld id="{D17BE3F4-5B0C-4797-9781-3117FC609F15}" type="datetime">
              <a:rPr lang="en-US" sz="1000" b="0" u="none" strike="noStrike">
                <a:solidFill>
                  <a:srgbClr val="F2F2F2"/>
                </a:solidFill>
                <a:uFillTx/>
                <a:latin typeface="Calisto MT"/>
              </a:rPr>
              <a:t>11/28/2025</a:t>
            </a:fld>
            <a:endParaRPr lang="en-US" sz="1000" b="0" u="none" strike="noStrike">
              <a:solidFill>
                <a:srgbClr val="FFFFFF"/>
              </a:solidFill>
              <a:uFillTx/>
              <a:latin typeface="Times New Roman"/>
            </a:endParaRPr>
          </a:p>
        </p:txBody>
      </p:sp>
      <p:sp>
        <p:nvSpPr>
          <p:cNvPr id="9" name="PlaceHolder 3"/>
          <p:cNvSpPr>
            <a:spLocks noGrp="1"/>
          </p:cNvSpPr>
          <p:nvPr>
            <p:ph type="ftr" idx="5"/>
          </p:nvPr>
        </p:nvSpPr>
        <p:spPr>
          <a:xfrm>
            <a:off x="755280" y="4863960"/>
            <a:ext cx="5516640" cy="301680"/>
          </a:xfrm>
          <a:prstGeom prst="rect">
            <a:avLst/>
          </a:prstGeom>
          <a:noFill/>
          <a:ln w="0">
            <a:noFill/>
          </a:ln>
        </p:spPr>
        <p:txBody>
          <a:bodyPr lIns="91440" tIns="45720" rIns="91440" bIns="45720" anchor="ctr">
            <a:noAutofit/>
          </a:bodyPr>
          <a:lstStyle/>
          <a:p>
            <a:pPr indent="0">
              <a:buNone/>
            </a:pPr>
            <a:endParaRPr lang="en-US" sz="1000" b="0" u="none" strike="noStrike">
              <a:solidFill>
                <a:srgbClr val="FFFFFF"/>
              </a:solidFill>
              <a:uFillTx/>
              <a:latin typeface="Times New Roman"/>
            </a:endParaRPr>
          </a:p>
        </p:txBody>
      </p:sp>
      <p:sp>
        <p:nvSpPr>
          <p:cNvPr id="10" name="PlaceHolder 4"/>
          <p:cNvSpPr>
            <a:spLocks noGrp="1"/>
          </p:cNvSpPr>
          <p:nvPr>
            <p:ph type="sldNum" idx="6"/>
          </p:nvPr>
        </p:nvSpPr>
        <p:spPr>
          <a:xfrm>
            <a:off x="8692560" y="4863960"/>
            <a:ext cx="622800" cy="301680"/>
          </a:xfrm>
          <a:prstGeom prst="rect">
            <a:avLst/>
          </a:prstGeom>
          <a:noFill/>
          <a:ln w="0">
            <a:noFill/>
          </a:ln>
        </p:spPr>
        <p:txBody>
          <a:bodyPr lIns="91440" tIns="45720" rIns="91440" bIns="45720" anchor="ctr">
            <a:noAutofit/>
          </a:bodyPr>
          <a:lstStyle>
            <a:lvl1pPr indent="0" algn="r">
              <a:lnSpc>
                <a:spcPct val="100000"/>
              </a:lnSpc>
              <a:buNone/>
              <a:defRPr lang="en-US" sz="1000" b="0" u="none" strike="noStrike">
                <a:solidFill>
                  <a:srgbClr val="F2F2F2"/>
                </a:solidFill>
                <a:uFillTx/>
                <a:latin typeface="Calisto MT"/>
              </a:defRPr>
            </a:lvl1pPr>
          </a:lstStyle>
          <a:p>
            <a:pPr indent="0" algn="r">
              <a:lnSpc>
                <a:spcPct val="100000"/>
              </a:lnSpc>
              <a:buNone/>
            </a:pPr>
            <a:fld id="{9528C0D4-CE1E-4960-A569-2B04791483A7}" type="slidenum">
              <a:rPr lang="en-US" sz="1000" b="0" u="none" strike="noStrike">
                <a:solidFill>
                  <a:srgbClr val="F2F2F2"/>
                </a:solidFill>
                <a:uFillTx/>
                <a:latin typeface="Calisto MT"/>
              </a:rPr>
              <a:t>‹#›</a:t>
            </a:fld>
            <a:endParaRPr lang="en-US" sz="1000" b="0" u="none" strike="noStrike">
              <a:solidFill>
                <a:srgbClr val="FFFFFF"/>
              </a:solidFill>
              <a:uFillTx/>
              <a:latin typeface="Times New Roman"/>
            </a:endParaRPr>
          </a:p>
        </p:txBody>
      </p:sp>
      <p:sp>
        <p:nvSpPr>
          <p:cNvPr id="11" name="PlaceHolder 5"/>
          <p:cNvSpPr>
            <a:spLocks noGrp="1"/>
          </p:cNvSpPr>
          <p:nvPr>
            <p:ph type="body"/>
          </p:nvPr>
        </p:nvSpPr>
        <p:spPr>
          <a:xfrm>
            <a:off x="504000" y="1326240"/>
            <a:ext cx="9071640" cy="3288240"/>
          </a:xfrm>
          <a:prstGeom prst="rect">
            <a:avLst/>
          </a:prstGeom>
          <a:noFill/>
          <a:ln w="0">
            <a:noFill/>
          </a:ln>
        </p:spPr>
        <p:txBody>
          <a:bodyPr lIns="0" tIns="0" rIns="0" bIns="0" anchor="t">
            <a:normAutofit/>
          </a:bodyPr>
          <a:lstStyle/>
          <a:p>
            <a:pPr marL="432000" indent="-324000">
              <a:spcBef>
                <a:spcPts val="1168"/>
              </a:spcBef>
              <a:buClr>
                <a:srgbClr val="FFFFFF"/>
              </a:buClr>
              <a:buSzPct val="45000"/>
              <a:buFont typeface="Wingdings" charset="2"/>
              <a:buChar char=""/>
            </a:pPr>
            <a:r>
              <a:rPr lang="en-US" sz="1660" b="0" u="none" strike="noStrike">
                <a:solidFill>
                  <a:srgbClr val="E3E3E3"/>
                </a:solidFill>
                <a:uFillTx/>
                <a:latin typeface="Calisto MT"/>
              </a:rPr>
              <a:t>Click to edit the outline text format</a:t>
            </a:r>
          </a:p>
          <a:p>
            <a:pPr marL="864000" lvl="1" indent="-324000">
              <a:spcBef>
                <a:spcPts val="935"/>
              </a:spcBef>
              <a:buClr>
                <a:srgbClr val="FFFFFF"/>
              </a:buClr>
              <a:buSzPct val="75000"/>
              <a:buFont typeface="Symbol" charset="2"/>
              <a:buChar char=""/>
            </a:pPr>
            <a:r>
              <a:rPr lang="en-US" sz="1320" b="0" u="none" strike="noStrike">
                <a:solidFill>
                  <a:srgbClr val="E3E3E3"/>
                </a:solidFill>
                <a:uFillTx/>
                <a:latin typeface="Calisto MT"/>
              </a:rPr>
              <a:t>Second Outline Level</a:t>
            </a:r>
          </a:p>
          <a:p>
            <a:pPr marL="1296000" lvl="2" indent="-288000">
              <a:spcBef>
                <a:spcPts val="697"/>
              </a:spcBef>
              <a:buClr>
                <a:srgbClr val="FFFFFF"/>
              </a:buClr>
              <a:buSzPct val="45000"/>
              <a:buFont typeface="Wingdings" charset="2"/>
              <a:buChar char=""/>
            </a:pPr>
            <a:r>
              <a:rPr lang="en-US" sz="1160" b="0" u="none" strike="noStrike">
                <a:solidFill>
                  <a:srgbClr val="E3E3E3"/>
                </a:solidFill>
                <a:uFillTx/>
                <a:latin typeface="Calisto MT"/>
              </a:rPr>
              <a:t>Third Outline Level</a:t>
            </a:r>
          </a:p>
          <a:p>
            <a:pPr marL="1728000" lvl="3" indent="-216000">
              <a:spcBef>
                <a:spcPts val="468"/>
              </a:spcBef>
              <a:buClr>
                <a:srgbClr val="FFFFFF"/>
              </a:buClr>
              <a:buSzPct val="75000"/>
              <a:buFont typeface="Symbol" charset="2"/>
              <a:buChar char=""/>
            </a:pPr>
            <a:r>
              <a:rPr lang="en-US" sz="1160" b="0" u="none" strike="noStrike">
                <a:solidFill>
                  <a:srgbClr val="E3E3E3"/>
                </a:solidFill>
                <a:uFillTx/>
                <a:latin typeface="Calisto MT"/>
              </a:rPr>
              <a:t>Fourth Outline Level</a:t>
            </a:r>
          </a:p>
          <a:p>
            <a:pPr marL="2160000" lvl="4" indent="-216000">
              <a:spcBef>
                <a:spcPts val="232"/>
              </a:spcBef>
              <a:buClr>
                <a:srgbClr val="FFFFFF"/>
              </a:buClr>
              <a:buSzPct val="45000"/>
              <a:buFont typeface="Wingdings" charset="2"/>
              <a:buChar char=""/>
            </a:pPr>
            <a:r>
              <a:rPr lang="en-US" sz="1650" b="0" u="none" strike="noStrike">
                <a:solidFill>
                  <a:srgbClr val="E3E3E3"/>
                </a:solidFill>
                <a:uFillTx/>
                <a:latin typeface="Calisto MT"/>
              </a:rPr>
              <a:t>Fifth Outline Level</a:t>
            </a:r>
          </a:p>
          <a:p>
            <a:pPr marL="2592000" lvl="5" indent="-216000">
              <a:spcBef>
                <a:spcPts val="232"/>
              </a:spcBef>
              <a:buClr>
                <a:srgbClr val="FFFFFF"/>
              </a:buClr>
              <a:buSzPct val="45000"/>
              <a:buFont typeface="Wingdings" charset="2"/>
              <a:buChar char=""/>
            </a:pPr>
            <a:r>
              <a:rPr lang="en-US" sz="1650" b="0" u="none" strike="noStrike">
                <a:solidFill>
                  <a:srgbClr val="E3E3E3"/>
                </a:solidFill>
                <a:uFillTx/>
                <a:latin typeface="Calisto MT"/>
              </a:rPr>
              <a:t>Sixth Outline Level</a:t>
            </a:r>
          </a:p>
          <a:p>
            <a:pPr marL="3024000" lvl="6" indent="-216000">
              <a:spcBef>
                <a:spcPts val="232"/>
              </a:spcBef>
              <a:buClr>
                <a:srgbClr val="FFFFFF"/>
              </a:buClr>
              <a:buSzPct val="45000"/>
              <a:buFont typeface="Wingdings" charset="2"/>
              <a:buChar char=""/>
            </a:pPr>
            <a:r>
              <a:rPr lang="en-US" sz="1650" b="0" u="none" strike="noStrike">
                <a:solidFill>
                  <a:srgbClr val="E3E3E3"/>
                </a:solidFill>
                <a:uFillTx/>
                <a:latin typeface="Calisto MT"/>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758136" y="63881"/>
            <a:ext cx="8559720" cy="619200"/>
          </a:xfrm>
          <a:prstGeom prst="rect">
            <a:avLst/>
          </a:prstGeom>
          <a:noFill/>
          <a:ln w="0">
            <a:noFill/>
          </a:ln>
          <a:effectLst>
            <a:outerShdw rotWithShape="0">
              <a:srgbClr val="000000">
                <a:alpha val="46000"/>
              </a:srgbClr>
            </a:outerShdw>
          </a:effectLst>
        </p:spPr>
        <p:txBody>
          <a:bodyPr lIns="91440" tIns="45720" rIns="91440" bIns="45720" anchor="ctr">
            <a:normAutofit fontScale="90000"/>
          </a:bodyPr>
          <a:lstStyle/>
          <a:p>
            <a:pPr indent="0" algn="ctr">
              <a:lnSpc>
                <a:spcPct val="100000"/>
              </a:lnSpc>
              <a:buNone/>
            </a:pPr>
            <a:r>
              <a:rPr lang="en-US" sz="4000" b="0" u="none" strike="noStrike">
                <a:solidFill>
                  <a:srgbClr val="E3E3E3"/>
                </a:solidFill>
                <a:uFillTx/>
                <a:latin typeface="Calisto MT"/>
              </a:rPr>
              <a:t>Review</a:t>
            </a:r>
            <a:endParaRPr lang="en-US" sz="4000" b="0" u="none" strike="noStrike">
              <a:solidFill>
                <a:srgbClr val="FFFFFF"/>
              </a:solidFill>
              <a:uFillTx/>
              <a:latin typeface="Calisto MT"/>
            </a:endParaRPr>
          </a:p>
        </p:txBody>
      </p:sp>
      <p:graphicFrame>
        <p:nvGraphicFramePr>
          <p:cNvPr id="14" name="Table 2"/>
          <p:cNvGraphicFramePr/>
          <p:nvPr>
            <p:extLst>
              <p:ext uri="{D42A27DB-BD31-4B8C-83A1-F6EECF244321}">
                <p14:modId xmlns:p14="http://schemas.microsoft.com/office/powerpoint/2010/main" val="2073677644"/>
              </p:ext>
            </p:extLst>
          </p:nvPr>
        </p:nvGraphicFramePr>
        <p:xfrm>
          <a:off x="330434" y="3"/>
          <a:ext cx="9415124" cy="5555516"/>
        </p:xfrm>
        <a:graphic>
          <a:graphicData uri="http://schemas.openxmlformats.org/drawingml/2006/table">
            <a:tbl>
              <a:tblPr/>
              <a:tblGrid>
                <a:gridCol w="717931">
                  <a:extLst>
                    <a:ext uri="{9D8B030D-6E8A-4147-A177-3AD203B41FA5}">
                      <a16:colId xmlns:a16="http://schemas.microsoft.com/office/drawing/2014/main" val="20000"/>
                    </a:ext>
                  </a:extLst>
                </a:gridCol>
                <a:gridCol w="1932689">
                  <a:extLst>
                    <a:ext uri="{9D8B030D-6E8A-4147-A177-3AD203B41FA5}">
                      <a16:colId xmlns:a16="http://schemas.microsoft.com/office/drawing/2014/main" val="20001"/>
                    </a:ext>
                  </a:extLst>
                </a:gridCol>
                <a:gridCol w="1233996">
                  <a:extLst>
                    <a:ext uri="{9D8B030D-6E8A-4147-A177-3AD203B41FA5}">
                      <a16:colId xmlns:a16="http://schemas.microsoft.com/office/drawing/2014/main" val="20003"/>
                    </a:ext>
                  </a:extLst>
                </a:gridCol>
                <a:gridCol w="1409121">
                  <a:extLst>
                    <a:ext uri="{9D8B030D-6E8A-4147-A177-3AD203B41FA5}">
                      <a16:colId xmlns:a16="http://schemas.microsoft.com/office/drawing/2014/main" val="20004"/>
                    </a:ext>
                  </a:extLst>
                </a:gridCol>
                <a:gridCol w="1469810">
                  <a:extLst>
                    <a:ext uri="{9D8B030D-6E8A-4147-A177-3AD203B41FA5}">
                      <a16:colId xmlns:a16="http://schemas.microsoft.com/office/drawing/2014/main" val="20005"/>
                    </a:ext>
                  </a:extLst>
                </a:gridCol>
                <a:gridCol w="1385888">
                  <a:extLst>
                    <a:ext uri="{9D8B030D-6E8A-4147-A177-3AD203B41FA5}">
                      <a16:colId xmlns:a16="http://schemas.microsoft.com/office/drawing/2014/main" val="20006"/>
                    </a:ext>
                  </a:extLst>
                </a:gridCol>
                <a:gridCol w="1265689">
                  <a:extLst>
                    <a:ext uri="{9D8B030D-6E8A-4147-A177-3AD203B41FA5}">
                      <a16:colId xmlns:a16="http://schemas.microsoft.com/office/drawing/2014/main" val="20010"/>
                    </a:ext>
                  </a:extLst>
                </a:gridCol>
              </a:tblGrid>
              <a:tr h="535262">
                <a:tc>
                  <a:txBody>
                    <a:bodyPr/>
                    <a:lstStyle/>
                    <a:p>
                      <a:pPr>
                        <a:lnSpc>
                          <a:spcPct val="100000"/>
                        </a:lnSpc>
                      </a:pPr>
                      <a:r>
                        <a:rPr lang="en-US" sz="1800" b="1" u="none" strike="noStrike" dirty="0">
                          <a:solidFill>
                            <a:srgbClr val="FFFFFF"/>
                          </a:solidFill>
                          <a:uFillTx/>
                          <a:latin typeface="Calisto MT"/>
                        </a:rPr>
                        <a:t>Sr no</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Title Of Research Paper</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 Authors</a:t>
                      </a:r>
                      <a:endParaRPr lang="en-US" sz="1800" b="0" u="none" strike="noStrike" dirty="0">
                        <a:solidFill>
                          <a:srgbClr val="FFFFFF"/>
                        </a:solidFill>
                        <a:uFillTx/>
                        <a:latin typeface="Arial"/>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826F61"/>
                    </a:solidFill>
                  </a:tcPr>
                </a:tc>
                <a:tc>
                  <a:txBody>
                    <a:bodyPr/>
                    <a:lstStyle/>
                    <a:p>
                      <a:pPr>
                        <a:lnSpc>
                          <a:spcPct val="100000"/>
                        </a:lnSpc>
                      </a:pPr>
                      <a:r>
                        <a:rPr lang="en-US" sz="1800" b="1" u="none" strike="noStrike" dirty="0">
                          <a:solidFill>
                            <a:srgbClr val="FFFFFF"/>
                          </a:solidFill>
                          <a:uFillTx/>
                          <a:latin typeface="Calisto MT"/>
                        </a:rPr>
                        <a:t>Name Of Journal </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Date Of Publication</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Brief summary</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Remarks</a:t>
                      </a:r>
                      <a:endParaRPr lang="en-US" sz="1800" b="0" u="none" strike="noStrike" dirty="0">
                        <a:solidFill>
                          <a:srgbClr val="FFFFFF"/>
                        </a:solidFill>
                        <a:uFillTx/>
                        <a:latin typeface="Arial"/>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826F61"/>
                    </a:solidFill>
                  </a:tcPr>
                </a:tc>
                <a:extLst>
                  <a:ext uri="{0D108BD9-81ED-4DB2-BD59-A6C34878D82A}">
                    <a16:rowId xmlns:a16="http://schemas.microsoft.com/office/drawing/2014/main" val="10000"/>
                  </a:ext>
                </a:extLst>
              </a:tr>
              <a:tr h="3052267">
                <a:tc>
                  <a:txBody>
                    <a:bodyPr/>
                    <a:lstStyle/>
                    <a:p>
                      <a:pPr>
                        <a:lnSpc>
                          <a:spcPct val="100000"/>
                        </a:lnSpc>
                      </a:pPr>
                      <a:r>
                        <a:rPr lang="en-US" sz="1800" b="0" u="none" strike="noStrike" dirty="0">
                          <a:solidFill>
                            <a:srgbClr val="000000"/>
                          </a:solidFill>
                          <a:uFillTx/>
                          <a:latin typeface="Calisto MT"/>
                        </a:rPr>
                        <a:t>5.</a:t>
                      </a:r>
                      <a:endParaRPr lang="en-US" sz="1800" b="0" u="none" strike="noStrike" dirty="0">
                        <a:solidFill>
                          <a:srgbClr val="000000"/>
                        </a:solidFill>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US" sz="1400" dirty="0"/>
                        <a:t>Chatbot-Delivered Interventions for Supplementing Psychological and Emotional Support in Youth Mental Health Services: Scoping Review</a:t>
                      </a: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IN" sz="1000" dirty="0"/>
                        <a:t>Joni Lee, Divya Bhat, Vasiliki </a:t>
                      </a:r>
                      <a:r>
                        <a:rPr lang="en-IN" sz="1000" dirty="0" err="1"/>
                        <a:t>Tsiligkiri</a:t>
                      </a:r>
                      <a:r>
                        <a:rPr lang="en-IN" sz="1000" dirty="0"/>
                        <a:t>, Mariana Pinheiro, Ana Paula </a:t>
                      </a:r>
                      <a:r>
                        <a:rPr lang="en-IN" sz="1000" dirty="0" err="1"/>
                        <a:t>D’Oliveira</a:t>
                      </a:r>
                      <a:endParaRPr lang="en-US" sz="1000" dirty="0"/>
                    </a:p>
                  </a:txBody>
                  <a:tcPr>
                    <a:lnL w="12240" cap="flat" cmpd="sng" algn="ctr">
                      <a:solidFill>
                        <a:srgbClr val="FFFFFF"/>
                      </a:solidFill>
                      <a:prstDash val="solid"/>
                      <a:round/>
                      <a:headEnd type="none" w="med" len="med"/>
                      <a:tailEnd type="none" w="med" len="med"/>
                    </a:lnL>
                    <a:lnR w="12240">
                      <a:solidFill>
                        <a:srgbClr val="FFFFFF"/>
                      </a:solidFill>
                      <a:prstDash val="solid"/>
                    </a:lnR>
                    <a:lnT w="3816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solidFill>
                      <a:srgbClr val="D8D4D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t>JMIR Mental Health</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IN" sz="1000" dirty="0"/>
                        <a:t>May 2023</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US" sz="800" dirty="0"/>
                        <a:t>This scoping review examines how chatbots are used to supplement psychological and emotional support services for young people. The paper identifies current applications, strengths, limitations, and design considerations while mapping existing chatbot interventions in youth mental healthcare. The review highlights growing potential but also the need for stronger evidence and responsible implementation.</a:t>
                      </a:r>
                      <a:endParaRPr lang="en-US" sz="7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r>
                        <a:rPr lang="en-US" sz="800" b="1" dirty="0"/>
                        <a:t>Key Findings</a:t>
                      </a:r>
                    </a:p>
                    <a:p>
                      <a:r>
                        <a:rPr lang="en-US" sz="800" dirty="0"/>
                        <a:t>-Chatbots are increasingly used to </a:t>
                      </a:r>
                      <a:r>
                        <a:rPr lang="en-US" sz="800" b="1" dirty="0"/>
                        <a:t>support emotional well-being</a:t>
                      </a:r>
                      <a:r>
                        <a:rPr lang="en-US" sz="800" dirty="0"/>
                        <a:t> and </a:t>
                      </a:r>
                      <a:r>
                        <a:rPr lang="en-US" sz="800" b="1" dirty="0"/>
                        <a:t>provide psychological assistance</a:t>
                      </a:r>
                      <a:r>
                        <a:rPr lang="en-US" sz="800" dirty="0"/>
                        <a:t> for young populations.</a:t>
                      </a:r>
                    </a:p>
                    <a:p>
                      <a:r>
                        <a:rPr lang="en-US" sz="800" dirty="0"/>
                        <a:t>-Current evidence suggests chatbots can </a:t>
                      </a:r>
                      <a:r>
                        <a:rPr lang="en-US" sz="800" b="1" dirty="0"/>
                        <a:t>improve accessibility</a:t>
                      </a:r>
                      <a:r>
                        <a:rPr lang="en-US" sz="800" dirty="0"/>
                        <a:t>, </a:t>
                      </a:r>
                      <a:r>
                        <a:rPr lang="en-US" sz="800" b="1" dirty="0"/>
                        <a:t>support self-management</a:t>
                      </a:r>
                      <a:r>
                        <a:rPr lang="en-US" sz="800" dirty="0"/>
                        <a:t>, and </a:t>
                      </a:r>
                      <a:r>
                        <a:rPr lang="en-US" sz="800" b="1" dirty="0"/>
                        <a:t>reduce stigma</a:t>
                      </a:r>
                      <a:r>
                        <a:rPr lang="en-US" sz="800" dirty="0"/>
                        <a:t> in seeking mental health help.</a:t>
                      </a:r>
                    </a:p>
                    <a:p>
                      <a:r>
                        <a:rPr lang="en-US" sz="800" dirty="0"/>
                        <a:t>-Research remains limited, with </a:t>
                      </a:r>
                      <a:r>
                        <a:rPr lang="en-US" sz="800" b="1" dirty="0"/>
                        <a:t>few high-quality trials</a:t>
                      </a:r>
                      <a:r>
                        <a:rPr lang="en-US" sz="800" dirty="0"/>
                        <a:t>, inconsistent evaluation methods, and concerns related to </a:t>
                      </a:r>
                      <a:r>
                        <a:rPr lang="en-US" sz="800" b="1" dirty="0"/>
                        <a:t>safeguarding</a:t>
                      </a:r>
                      <a:r>
                        <a:rPr lang="en-US" sz="800" dirty="0"/>
                        <a:t>, </a:t>
                      </a:r>
                      <a:r>
                        <a:rPr lang="en-US" sz="800" b="1" dirty="0"/>
                        <a:t>data privacy</a:t>
                      </a:r>
                      <a:r>
                        <a:rPr lang="en-US" sz="800" dirty="0"/>
                        <a:t>, and </a:t>
                      </a:r>
                      <a:r>
                        <a:rPr lang="en-US" sz="800" b="1" dirty="0"/>
                        <a:t>accuracy</a:t>
                      </a:r>
                      <a:r>
                        <a:rPr lang="en-US" sz="800" dirty="0"/>
                        <a:t> of responses.</a:t>
                      </a:r>
                    </a:p>
                    <a:p>
                      <a:r>
                        <a:rPr lang="en-US" sz="800"/>
                        <a:t>-Increased </a:t>
                      </a:r>
                      <a:r>
                        <a:rPr lang="en-US" sz="800" dirty="0"/>
                        <a:t>demand for mental health services among youth makes chatbots promising as </a:t>
                      </a:r>
                      <a:r>
                        <a:rPr lang="en-US" sz="800" b="1" dirty="0"/>
                        <a:t>supplementary (not replacement) tools</a:t>
                      </a:r>
                      <a:r>
                        <a:rPr lang="en-US" sz="800" dirty="0"/>
                        <a:t>.</a:t>
                      </a:r>
                    </a:p>
                    <a:p>
                      <a:pPr lvl="0" algn="l">
                        <a:lnSpc>
                          <a:spcPct val="100000"/>
                        </a:lnSpc>
                        <a:spcBef>
                          <a:spcPts val="0"/>
                        </a:spcBef>
                        <a:spcAft>
                          <a:spcPts val="0"/>
                        </a:spcAft>
                        <a:buNone/>
                      </a:pPr>
                      <a:endParaRPr lang="en-US" sz="1100" b="0" i="0" u="none" strike="noStrike" noProof="0" dirty="0">
                        <a:solidFill>
                          <a:srgbClr val="000000"/>
                        </a:solidFill>
                        <a:uFillTx/>
                        <a:latin typeface="Calisto MT"/>
                      </a:endParaRPr>
                    </a:p>
                    <a:p>
                      <a:pPr lvl="0">
                        <a:lnSpc>
                          <a:spcPct val="100000"/>
                        </a:lnSpc>
                        <a:buNone/>
                      </a:pPr>
                      <a:endParaRPr lang="en-US" sz="1450" b="0" u="none" strike="noStrike" dirty="0">
                        <a:solidFill>
                          <a:srgbClr val="000000"/>
                        </a:solidFill>
                        <a:uFillTx/>
                        <a:latin typeface="Calisto MT"/>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3816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solidFill>
                      <a:srgbClr val="D8D4D2"/>
                    </a:solidFill>
                  </a:tcPr>
                </a:tc>
                <a:extLst>
                  <a:ext uri="{0D108BD9-81ED-4DB2-BD59-A6C34878D82A}">
                    <a16:rowId xmlns:a16="http://schemas.microsoft.com/office/drawing/2014/main" val="10001"/>
                  </a:ext>
                </a:extLst>
              </a:tr>
              <a:tr h="655856">
                <a:tc>
                  <a:txBody>
                    <a:bodyPr/>
                    <a:lstStyle/>
                    <a:p>
                      <a:pPr>
                        <a:lnSpc>
                          <a:spcPct val="100000"/>
                        </a:lnSpc>
                      </a:pPr>
                      <a:endParaRPr lang="en-US" sz="1800" b="0" u="none" strike="noStrike" dirty="0">
                        <a:solidFill>
                          <a:srgbClr val="000000"/>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lvl="0">
                        <a:lnSpc>
                          <a:spcPct val="100000"/>
                        </a:lnSpc>
                        <a:buNone/>
                      </a:pPr>
                      <a:endParaRPr lang="en-US" sz="12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lvl="0">
                        <a:lnSpc>
                          <a:spcPct val="100000"/>
                        </a:lnSpc>
                        <a:buNone/>
                      </a:pPr>
                      <a:endParaRPr lang="en-US" sz="1100" b="0" u="none" strike="noStrike" dirty="0">
                        <a:solidFill>
                          <a:srgbClr val="000000"/>
                        </a:solidFill>
                        <a:uFillTx/>
                        <a:latin typeface="Calisto MT"/>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ECEBEA"/>
                    </a:solidFill>
                  </a:tcPr>
                </a:tc>
                <a:tc>
                  <a:txBody>
                    <a:bodyPr/>
                    <a:lstStyle/>
                    <a:p>
                      <a:pPr lvl="0">
                        <a:lnSpc>
                          <a:spcPct val="100000"/>
                        </a:lnSpc>
                        <a:buNone/>
                      </a:pP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a:lnSpc>
                          <a:spcPct val="100000"/>
                        </a:lnSpc>
                      </a:pP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lvl="0">
                        <a:lnSpc>
                          <a:spcPct val="100000"/>
                        </a:lnSpc>
                        <a:buNone/>
                      </a:pPr>
                      <a:endParaRPr lang="en-US" sz="900" dirty="0"/>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a:lnSpc>
                          <a:spcPct val="100000"/>
                        </a:lnSpc>
                      </a:pPr>
                      <a:endParaRPr lang="en-US" sz="1100" b="0" u="none" strike="noStrike" dirty="0">
                        <a:solidFill>
                          <a:srgbClr val="000000"/>
                        </a:solidFill>
                        <a:uFillTx/>
                        <a:latin typeface="Calisto MT"/>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ECEBEA"/>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TotalTime>
  <Words>202</Words>
  <Application>Microsoft Office PowerPoint</Application>
  <PresentationFormat>Custom</PresentationFormat>
  <Paragraphs>19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Calisto MT</vt:lpstr>
      <vt:lpstr>Symbol</vt:lpstr>
      <vt:lpstr>Times New Roman</vt:lpstr>
      <vt:lpstr>Wingdings</vt:lpstr>
      <vt:lpstr>Office</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dc:description/>
  <cp:lastModifiedBy>adityansalgare123@outlook.com</cp:lastModifiedBy>
  <cp:revision>360</cp:revision>
  <dcterms:created xsi:type="dcterms:W3CDTF">2025-11-19T17:57:59Z</dcterms:created>
  <dcterms:modified xsi:type="dcterms:W3CDTF">2025-11-27T19:06:17Z</dcterms:modified>
  <dc:language>en-US</dc:language>
</cp:coreProperties>
</file>