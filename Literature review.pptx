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sldIdLst>
    <p:sldId id="256" r:id="rId2"/>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238" autoAdjust="0"/>
  </p:normalViewPr>
  <p:slideViewPr>
    <p:cSldViewPr snapToGrid="0">
      <p:cViewPr varScale="1">
        <p:scale>
          <a:sx n="89" d="100"/>
          <a:sy n="89" d="100"/>
        </p:scale>
        <p:origin x="3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FFFFFF"/>
              </a:solidFill>
              <a:uFillTx/>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B3431481-FBE4-4E37-8C2D-41785D9AD567}"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55280" y="503640"/>
            <a:ext cx="8559720" cy="802080"/>
          </a:xfrm>
          <a:prstGeom prst="rect">
            <a:avLst/>
          </a:prstGeom>
          <a:noFill/>
          <a:ln w="0">
            <a:noFill/>
          </a:ln>
          <a:effectLst>
            <a:outerShdw rotWithShape="0">
              <a:srgbClr val="000000">
                <a:alpha val="46000"/>
              </a:srgbClr>
            </a:outerShdw>
          </a:effectLst>
        </p:spPr>
        <p:txBody>
          <a:bodyPr lIns="91440" tIns="45720" rIns="91440" bIns="45720" anchor="ctr">
            <a:noAutofit/>
          </a:bodyPr>
          <a:lstStyle/>
          <a:p>
            <a:pPr indent="0" algn="ctr">
              <a:lnSpc>
                <a:spcPct val="100000"/>
              </a:lnSpc>
              <a:buNone/>
            </a:pPr>
            <a:r>
              <a:rPr lang="en-US" sz="4000" b="0" u="none" strike="noStrike">
                <a:solidFill>
                  <a:srgbClr val="E3E3E3"/>
                </a:solidFill>
                <a:uFillTx/>
                <a:latin typeface="Calisto MT"/>
              </a:rPr>
              <a:t>Click to edit Master title style</a:t>
            </a:r>
            <a:endParaRPr lang="en-US" sz="4000" b="0" u="none" strike="noStrike">
              <a:solidFill>
                <a:srgbClr val="FFFFFF"/>
              </a:solidFill>
              <a:uFillTx/>
              <a:latin typeface="Calisto MT"/>
            </a:endParaRPr>
          </a:p>
        </p:txBody>
      </p:sp>
      <p:sp>
        <p:nvSpPr>
          <p:cNvPr id="8" name="PlaceHolder 2"/>
          <p:cNvSpPr>
            <a:spLocks noGrp="1"/>
          </p:cNvSpPr>
          <p:nvPr>
            <p:ph type="dt" idx="4"/>
          </p:nvPr>
        </p:nvSpPr>
        <p:spPr>
          <a:xfrm>
            <a:off x="6348240" y="4863960"/>
            <a:ext cx="226764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D17BE3F4-5B0C-4797-9781-3117FC609F15}" type="datetime">
              <a:rPr lang="en-US" sz="1000" b="0" u="none" strike="noStrike">
                <a:solidFill>
                  <a:srgbClr val="F2F2F2"/>
                </a:solidFill>
                <a:uFillTx/>
                <a:latin typeface="Calisto MT"/>
              </a:rPr>
              <a:t>11/27/2025</a:t>
            </a:fld>
            <a:endParaRPr lang="en-US" sz="1000" b="0" u="none" strike="noStrike">
              <a:solidFill>
                <a:srgbClr val="FFFFFF"/>
              </a:solidFill>
              <a:uFillTx/>
              <a:latin typeface="Times New Roman"/>
            </a:endParaRPr>
          </a:p>
        </p:txBody>
      </p:sp>
      <p:sp>
        <p:nvSpPr>
          <p:cNvPr id="9" name="PlaceHolder 3"/>
          <p:cNvSpPr>
            <a:spLocks noGrp="1"/>
          </p:cNvSpPr>
          <p:nvPr>
            <p:ph type="ftr" idx="5"/>
          </p:nvPr>
        </p:nvSpPr>
        <p:spPr>
          <a:xfrm>
            <a:off x="755280" y="4863960"/>
            <a:ext cx="5516640" cy="301680"/>
          </a:xfrm>
          <a:prstGeom prst="rect">
            <a:avLst/>
          </a:prstGeom>
          <a:noFill/>
          <a:ln w="0">
            <a:noFill/>
          </a:ln>
        </p:spPr>
        <p:txBody>
          <a:bodyPr lIns="91440" tIns="45720" rIns="91440" bIns="45720" anchor="ctr">
            <a:noAutofit/>
          </a:bodyPr>
          <a:lstStyle/>
          <a:p>
            <a:pPr indent="0">
              <a:buNone/>
            </a:pPr>
            <a:endParaRPr lang="en-US" sz="1000" b="0" u="none" strike="noStrike">
              <a:solidFill>
                <a:srgbClr val="FFFFFF"/>
              </a:solidFill>
              <a:uFillTx/>
              <a:latin typeface="Times New Roman"/>
            </a:endParaRPr>
          </a:p>
        </p:txBody>
      </p:sp>
      <p:sp>
        <p:nvSpPr>
          <p:cNvPr id="10" name="PlaceHolder 4"/>
          <p:cNvSpPr>
            <a:spLocks noGrp="1"/>
          </p:cNvSpPr>
          <p:nvPr>
            <p:ph type="sldNum" idx="6"/>
          </p:nvPr>
        </p:nvSpPr>
        <p:spPr>
          <a:xfrm>
            <a:off x="8692560" y="4863960"/>
            <a:ext cx="62280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9528C0D4-CE1E-4960-A569-2B04791483A7}" type="slidenum">
              <a:rPr lang="en-US" sz="1000" b="0" u="none" strike="noStrike">
                <a:solidFill>
                  <a:srgbClr val="F2F2F2"/>
                </a:solidFill>
                <a:uFillTx/>
                <a:latin typeface="Calisto MT"/>
              </a:rPr>
              <a:t>‹#›</a:t>
            </a:fld>
            <a:endParaRPr lang="en-US" sz="1000" b="0" u="none" strike="noStrike">
              <a:solidFill>
                <a:srgbClr val="FFFFFF"/>
              </a:solidFill>
              <a:uFillTx/>
              <a:latin typeface="Times New Roman"/>
            </a:endParaRPr>
          </a:p>
        </p:txBody>
      </p:sp>
      <p:sp>
        <p:nvSpPr>
          <p:cNvPr id="11" name="PlaceHolder 5"/>
          <p:cNvSpPr>
            <a:spLocks noGrp="1"/>
          </p:cNvSpPr>
          <p:nvPr>
            <p:ph type="body"/>
          </p:nvPr>
        </p:nvSpPr>
        <p:spPr>
          <a:xfrm>
            <a:off x="504000" y="1326240"/>
            <a:ext cx="9071640" cy="3288240"/>
          </a:xfrm>
          <a:prstGeom prst="rect">
            <a:avLst/>
          </a:prstGeom>
          <a:noFill/>
          <a:ln w="0">
            <a:noFill/>
          </a:ln>
        </p:spPr>
        <p:txBody>
          <a:bodyPr lIns="0" tIns="0" rIns="0" bIns="0" anchor="t">
            <a:normAutofit/>
          </a:bodyPr>
          <a:lstStyle/>
          <a:p>
            <a:pPr marL="432000" indent="-324000">
              <a:spcBef>
                <a:spcPts val="1168"/>
              </a:spcBef>
              <a:buClr>
                <a:srgbClr val="FFFFFF"/>
              </a:buClr>
              <a:buSzPct val="45000"/>
              <a:buFont typeface="Wingdings" charset="2"/>
              <a:buChar char=""/>
            </a:pPr>
            <a:r>
              <a:rPr lang="en-US" sz="1660" b="0" u="none" strike="noStrike">
                <a:solidFill>
                  <a:srgbClr val="E3E3E3"/>
                </a:solidFill>
                <a:uFillTx/>
                <a:latin typeface="Calisto MT"/>
              </a:rPr>
              <a:t>Click to edit the outline text format</a:t>
            </a:r>
          </a:p>
          <a:p>
            <a:pPr marL="864000" lvl="1" indent="-324000">
              <a:spcBef>
                <a:spcPts val="935"/>
              </a:spcBef>
              <a:buClr>
                <a:srgbClr val="FFFFFF"/>
              </a:buClr>
              <a:buSzPct val="75000"/>
              <a:buFont typeface="Symbol" charset="2"/>
              <a:buChar char=""/>
            </a:pPr>
            <a:r>
              <a:rPr lang="en-US" sz="1320" b="0" u="none" strike="noStrike">
                <a:solidFill>
                  <a:srgbClr val="E3E3E3"/>
                </a:solidFill>
                <a:uFillTx/>
                <a:latin typeface="Calisto MT"/>
              </a:rPr>
              <a:t>Second Outline Level</a:t>
            </a:r>
          </a:p>
          <a:p>
            <a:pPr marL="1296000" lvl="2" indent="-288000">
              <a:spcBef>
                <a:spcPts val="697"/>
              </a:spcBef>
              <a:buClr>
                <a:srgbClr val="FFFFFF"/>
              </a:buClr>
              <a:buSzPct val="45000"/>
              <a:buFont typeface="Wingdings" charset="2"/>
              <a:buChar char=""/>
            </a:pPr>
            <a:r>
              <a:rPr lang="en-US" sz="1160" b="0" u="none" strike="noStrike">
                <a:solidFill>
                  <a:srgbClr val="E3E3E3"/>
                </a:solidFill>
                <a:uFillTx/>
                <a:latin typeface="Calisto MT"/>
              </a:rPr>
              <a:t>Third Outline Level</a:t>
            </a:r>
          </a:p>
          <a:p>
            <a:pPr marL="1728000" lvl="3" indent="-216000">
              <a:spcBef>
                <a:spcPts val="468"/>
              </a:spcBef>
              <a:buClr>
                <a:srgbClr val="FFFFFF"/>
              </a:buClr>
              <a:buSzPct val="75000"/>
              <a:buFont typeface="Symbol" charset="2"/>
              <a:buChar char=""/>
            </a:pPr>
            <a:r>
              <a:rPr lang="en-US" sz="1160" b="0" u="none" strike="noStrike">
                <a:solidFill>
                  <a:srgbClr val="E3E3E3"/>
                </a:solidFill>
                <a:uFillTx/>
                <a:latin typeface="Calisto MT"/>
              </a:rPr>
              <a:t>Fourth Outline Level</a:t>
            </a:r>
          </a:p>
          <a:p>
            <a:pPr marL="2160000" lvl="4"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Fifth Outline Level</a:t>
            </a:r>
          </a:p>
          <a:p>
            <a:pPr marL="2592000" lvl="5"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Sixth Outline Level</a:t>
            </a:r>
          </a:p>
          <a:p>
            <a:pPr marL="3024000" lvl="6"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758136" y="63881"/>
            <a:ext cx="8559720" cy="619200"/>
          </a:xfrm>
          <a:prstGeom prst="rect">
            <a:avLst/>
          </a:prstGeom>
          <a:noFill/>
          <a:ln w="0">
            <a:noFill/>
          </a:ln>
          <a:effectLst>
            <a:outerShdw rotWithShape="0">
              <a:srgbClr val="000000">
                <a:alpha val="46000"/>
              </a:srgbClr>
            </a:outerShdw>
          </a:effectLst>
        </p:spPr>
        <p:txBody>
          <a:bodyPr lIns="91440" tIns="45720" rIns="91440" bIns="45720" anchor="ctr">
            <a:normAutofit fontScale="90000"/>
          </a:bodyPr>
          <a:lstStyle/>
          <a:p>
            <a:pPr indent="0" algn="ctr">
              <a:lnSpc>
                <a:spcPct val="100000"/>
              </a:lnSpc>
              <a:buNone/>
            </a:pPr>
            <a:r>
              <a:rPr lang="en-US" sz="4000" b="0" u="none" strike="noStrike">
                <a:solidFill>
                  <a:srgbClr val="E3E3E3"/>
                </a:solidFill>
                <a:uFillTx/>
                <a:latin typeface="Calisto MT"/>
              </a:rPr>
              <a:t>Review</a:t>
            </a:r>
            <a:endParaRPr lang="en-US" sz="4000" b="0" u="none" strike="noStrike">
              <a:solidFill>
                <a:srgbClr val="FFFFFF"/>
              </a:solidFill>
              <a:uFillTx/>
              <a:latin typeface="Calisto MT"/>
            </a:endParaRPr>
          </a:p>
        </p:txBody>
      </p:sp>
      <p:graphicFrame>
        <p:nvGraphicFramePr>
          <p:cNvPr id="14" name="Table 2"/>
          <p:cNvGraphicFramePr/>
          <p:nvPr>
            <p:extLst>
              <p:ext uri="{D42A27DB-BD31-4B8C-83A1-F6EECF244321}">
                <p14:modId xmlns:p14="http://schemas.microsoft.com/office/powerpoint/2010/main" val="2672749327"/>
              </p:ext>
            </p:extLst>
          </p:nvPr>
        </p:nvGraphicFramePr>
        <p:xfrm>
          <a:off x="330434" y="0"/>
          <a:ext cx="9415124" cy="6418501"/>
        </p:xfrm>
        <a:graphic>
          <a:graphicData uri="http://schemas.openxmlformats.org/drawingml/2006/table">
            <a:tbl>
              <a:tblPr/>
              <a:tblGrid>
                <a:gridCol w="717931">
                  <a:extLst>
                    <a:ext uri="{9D8B030D-6E8A-4147-A177-3AD203B41FA5}">
                      <a16:colId xmlns:a16="http://schemas.microsoft.com/office/drawing/2014/main" val="20000"/>
                    </a:ext>
                  </a:extLst>
                </a:gridCol>
                <a:gridCol w="1932689">
                  <a:extLst>
                    <a:ext uri="{9D8B030D-6E8A-4147-A177-3AD203B41FA5}">
                      <a16:colId xmlns:a16="http://schemas.microsoft.com/office/drawing/2014/main" val="20001"/>
                    </a:ext>
                  </a:extLst>
                </a:gridCol>
                <a:gridCol w="1233996">
                  <a:extLst>
                    <a:ext uri="{9D8B030D-6E8A-4147-A177-3AD203B41FA5}">
                      <a16:colId xmlns:a16="http://schemas.microsoft.com/office/drawing/2014/main" val="20003"/>
                    </a:ext>
                  </a:extLst>
                </a:gridCol>
                <a:gridCol w="1409121">
                  <a:extLst>
                    <a:ext uri="{9D8B030D-6E8A-4147-A177-3AD203B41FA5}">
                      <a16:colId xmlns:a16="http://schemas.microsoft.com/office/drawing/2014/main" val="20004"/>
                    </a:ext>
                  </a:extLst>
                </a:gridCol>
                <a:gridCol w="1469810">
                  <a:extLst>
                    <a:ext uri="{9D8B030D-6E8A-4147-A177-3AD203B41FA5}">
                      <a16:colId xmlns:a16="http://schemas.microsoft.com/office/drawing/2014/main" val="20005"/>
                    </a:ext>
                  </a:extLst>
                </a:gridCol>
                <a:gridCol w="1385888">
                  <a:extLst>
                    <a:ext uri="{9D8B030D-6E8A-4147-A177-3AD203B41FA5}">
                      <a16:colId xmlns:a16="http://schemas.microsoft.com/office/drawing/2014/main" val="20006"/>
                    </a:ext>
                  </a:extLst>
                </a:gridCol>
                <a:gridCol w="1265689">
                  <a:extLst>
                    <a:ext uri="{9D8B030D-6E8A-4147-A177-3AD203B41FA5}">
                      <a16:colId xmlns:a16="http://schemas.microsoft.com/office/drawing/2014/main" val="20010"/>
                    </a:ext>
                  </a:extLst>
                </a:gridCol>
              </a:tblGrid>
              <a:tr h="924481">
                <a:tc>
                  <a:txBody>
                    <a:bodyPr/>
                    <a:lstStyle/>
                    <a:p>
                      <a:pPr>
                        <a:lnSpc>
                          <a:spcPct val="100000"/>
                        </a:lnSpc>
                      </a:pPr>
                      <a:r>
                        <a:rPr lang="en-US" sz="1800" b="1" u="none" strike="noStrike" dirty="0">
                          <a:solidFill>
                            <a:srgbClr val="FFFFFF"/>
                          </a:solidFill>
                          <a:uFillTx/>
                          <a:latin typeface="Calisto MT"/>
                        </a:rPr>
                        <a:t>Sr no</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Title Of Research Paper</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 Authors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tc>
                  <a:txBody>
                    <a:bodyPr/>
                    <a:lstStyle/>
                    <a:p>
                      <a:pPr>
                        <a:lnSpc>
                          <a:spcPct val="100000"/>
                        </a:lnSpc>
                      </a:pPr>
                      <a:r>
                        <a:rPr lang="en-US" sz="1800" b="1" u="none" strike="noStrike" dirty="0">
                          <a:solidFill>
                            <a:srgbClr val="FFFFFF"/>
                          </a:solidFill>
                          <a:uFillTx/>
                          <a:latin typeface="Calisto MT"/>
                        </a:rPr>
                        <a:t>Name Of Journal </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Date Of Publication</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Brief summary</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Remarks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extLst>
                  <a:ext uri="{0D108BD9-81ED-4DB2-BD59-A6C34878D82A}">
                    <a16:rowId xmlns:a16="http://schemas.microsoft.com/office/drawing/2014/main" val="10000"/>
                  </a:ext>
                </a:extLst>
              </a:tr>
              <a:tr h="1827868">
                <a:tc>
                  <a:txBody>
                    <a:bodyPr/>
                    <a:lstStyle/>
                    <a:p>
                      <a:pPr>
                        <a:lnSpc>
                          <a:spcPct val="100000"/>
                        </a:lnSpc>
                      </a:pPr>
                      <a:r>
                        <a:rPr lang="en-US" sz="1800" b="0" u="none" strike="noStrike" dirty="0">
                          <a:solidFill>
                            <a:srgbClr val="000000"/>
                          </a:solidFill>
                          <a:uFillTx/>
                          <a:latin typeface="Calisto MT"/>
                        </a:rPr>
                        <a:t>1.</a:t>
                      </a:r>
                      <a:endParaRPr lang="en-US" sz="1800" b="0" u="none" strike="noStrike" dirty="0">
                        <a:solidFill>
                          <a:srgbClr val="000000"/>
                        </a:solidFill>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1400" dirty="0"/>
                        <a:t>Design and Development of a Mental Health Chatbot Using Natural Language Processing for Emotional Support</a:t>
                      </a: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fi-FI" sz="1000" dirty="0"/>
                        <a:t>G. Rajasekaran,</a:t>
                      </a:r>
                      <a:br>
                        <a:rPr lang="fi-FI" sz="1000" dirty="0"/>
                      </a:br>
                      <a:r>
                        <a:rPr lang="fi-FI" sz="1000" dirty="0"/>
                        <a:t>M. Mohamed Sameer Ali,</a:t>
                      </a:r>
                      <a:br>
                        <a:rPr lang="fi-FI" sz="1000" dirty="0"/>
                      </a:br>
                      <a:r>
                        <a:rPr lang="fi-FI" sz="1000" dirty="0"/>
                        <a:t>S. Suman Rajest,</a:t>
                      </a:r>
                      <a:br>
                        <a:rPr lang="fi-FI" sz="1000" dirty="0"/>
                      </a:br>
                      <a:r>
                        <a:rPr lang="fi-FI" sz="1000" dirty="0"/>
                        <a:t>R. Regin</a:t>
                      </a:r>
                      <a:endParaRPr lang="en-US" sz="1000" dirty="0"/>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Central Asian Journal of Medical and Natural Sciences (CAJMNS)</a:t>
                      </a:r>
                      <a:br>
                        <a:rPr lang="en-US" sz="1000" dirty="0"/>
                      </a:br>
                      <a:r>
                        <a:rPr lang="en-US" sz="1000" dirty="0"/>
                        <a:t>Volume 7, Issue 1, pp. 122–137</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1000" b="1" dirty="0"/>
                        <a:t>January 2026</a:t>
                      </a:r>
                      <a:br>
                        <a:rPr lang="en-US" sz="1000" dirty="0"/>
                      </a:br>
                      <a:r>
                        <a:rPr lang="en-US" sz="1000" dirty="0"/>
                        <a:t>(Received: Oct 2025, Accepted: Nov 2025, Published: 17 Nov 2025)</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800" dirty="0"/>
                        <a:t>The paper presents the design and development of a beginner-level mental health chatbot using Natural Language Processing (NLP) to provide emotional support, especially for individuals undergoing occupational therapy. The chatbot identifies basic emotional cues through keyword recognition and rudimentary sentiment analysis and responds with comforting, supportive, and stress-relief messages</a:t>
                      </a:r>
                      <a:r>
                        <a:rPr lang="en-US" sz="700" dirty="0"/>
                        <a:t>.</a:t>
                      </a:r>
                      <a:endParaRPr lang="en-US" sz="7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r>
                        <a:rPr lang="en-US" sz="800" b="1" dirty="0"/>
                        <a:t>Key Findings</a:t>
                      </a:r>
                    </a:p>
                    <a:p>
                      <a:r>
                        <a:rPr lang="en-US" sz="800" dirty="0"/>
                        <a:t> -Simple NLP-driven chatbots can offer meaningful emotional reassurance</a:t>
                      </a:r>
                    </a:p>
                    <a:p>
                      <a:r>
                        <a:rPr lang="en-US" sz="800" dirty="0"/>
                        <a:t>-Users benefit from a private, judgment-free conversational outlet</a:t>
                      </a:r>
                      <a:br>
                        <a:rPr lang="en-US" sz="800" dirty="0"/>
                      </a:br>
                      <a:r>
                        <a:rPr lang="en-US" sz="800" dirty="0"/>
                        <a:t>-Useful as a supplementary tool—not a replacement for clinical therapy</a:t>
                      </a:r>
                      <a:br>
                        <a:rPr lang="en-US" sz="800" dirty="0"/>
                      </a:br>
                      <a:r>
                        <a:rPr lang="en-US" sz="800" dirty="0"/>
                        <a:t>-Limitations include difficulty handling complex language and nuanced emotions</a:t>
                      </a:r>
                    </a:p>
                    <a:p>
                      <a:pPr lvl="0" algn="l">
                        <a:lnSpc>
                          <a:spcPct val="100000"/>
                        </a:lnSpc>
                        <a:spcBef>
                          <a:spcPts val="0"/>
                        </a:spcBef>
                        <a:spcAft>
                          <a:spcPts val="0"/>
                        </a:spcAft>
                        <a:buNone/>
                      </a:pPr>
                      <a:endParaRPr lang="en-US" sz="1100" b="0" i="0" u="none" strike="noStrike" noProof="0" dirty="0">
                        <a:solidFill>
                          <a:srgbClr val="000000"/>
                        </a:solidFill>
                        <a:uFillTx/>
                        <a:latin typeface="Calisto MT"/>
                      </a:endParaRPr>
                    </a:p>
                    <a:p>
                      <a:pPr lvl="0">
                        <a:lnSpc>
                          <a:spcPct val="100000"/>
                        </a:lnSpc>
                        <a:buNone/>
                      </a:pPr>
                      <a:endParaRPr lang="en-US" sz="145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extLst>
                  <a:ext uri="{0D108BD9-81ED-4DB2-BD59-A6C34878D82A}">
                    <a16:rowId xmlns:a16="http://schemas.microsoft.com/office/drawing/2014/main" val="10001"/>
                  </a:ext>
                </a:extLst>
              </a:tr>
              <a:tr h="2761857">
                <a:tc>
                  <a:txBody>
                    <a:bodyPr/>
                    <a:lstStyle/>
                    <a:p>
                      <a:pPr>
                        <a:lnSpc>
                          <a:spcPct val="100000"/>
                        </a:lnSpc>
                      </a:pPr>
                      <a:r>
                        <a:rPr lang="en-US" sz="1800" b="0" u="none" strike="noStrike" dirty="0">
                          <a:solidFill>
                            <a:srgbClr val="000000"/>
                          </a:solidFill>
                          <a:uFillTx/>
                          <a:latin typeface="Calisto MT"/>
                        </a:rPr>
                        <a:t>2.</a:t>
                      </a:r>
                      <a:endParaRPr lang="en-US" sz="1800" b="0" u="none" strike="noStrike" dirty="0">
                        <a:solidFill>
                          <a:srgbClr val="000000"/>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US" sz="1400" dirty="0"/>
                        <a:t>Chatbot-Delivered Interventions for Improving Mental Health Among Young People: A Systematic Review and Meta-Analysis</a:t>
                      </a:r>
                      <a:endParaRPr lang="en-US" sz="12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IN" sz="1100" dirty="0"/>
                        <a:t>Jiaying Li, Yan Li, Yule Hu, Dennis Chak Fai Ma, </a:t>
                      </a:r>
                      <a:r>
                        <a:rPr lang="en-IN" sz="1100" dirty="0" err="1"/>
                        <a:t>Xiaoxiao</a:t>
                      </a:r>
                      <a:r>
                        <a:rPr lang="en-IN" sz="1100" dirty="0"/>
                        <a:t> Mei, Engle Angela Chan, Janelle Yorke</a:t>
                      </a: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tc>
                  <a:txBody>
                    <a:bodyPr/>
                    <a:lstStyle/>
                    <a:p>
                      <a:pPr lvl="0">
                        <a:lnSpc>
                          <a:spcPct val="100000"/>
                        </a:lnSpc>
                        <a:buNone/>
                      </a:pPr>
                      <a:r>
                        <a:rPr lang="en-US" sz="1000" b="1" dirty="0"/>
                        <a:t>Worldviews on Evidence-Based Nursing</a:t>
                      </a:r>
                      <a:r>
                        <a:rPr lang="en-US" sz="1000" dirty="0"/>
                        <a:t> (Wiley / Sigma Theta Tau International)</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a:lnSpc>
                          <a:spcPct val="100000"/>
                        </a:lnSpc>
                      </a:pPr>
                      <a:r>
                        <a:rPr lang="en-IN" sz="1000" dirty="0"/>
                        <a:t>May 2025</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US" sz="900" dirty="0"/>
                        <a:t>This systematic review and meta-analysis evaluates the effectiveness, feasibility, and acceptability of chatbot-delivered mental-health interventions among young people aged 10–24. Analyzing 29 interventional studies and 11 randomized controlled trials, the review found that chatbots significantly reduced psychological distress, though improvements in psychological well-being were not statistically significant.</a:t>
                      </a: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r>
                        <a:rPr lang="en-US" sz="800" b="1" dirty="0"/>
                        <a:t>Key Findings</a:t>
                      </a:r>
                    </a:p>
                    <a:p>
                      <a:r>
                        <a:rPr lang="en-US" sz="800" b="1" dirty="0"/>
                        <a:t>-No significant improvement</a:t>
                      </a:r>
                      <a:r>
                        <a:rPr lang="en-US" sz="800" dirty="0"/>
                        <a:t> observed in psychological well-being outcomes.</a:t>
                      </a:r>
                    </a:p>
                    <a:p>
                      <a:r>
                        <a:rPr lang="en-US" sz="800" dirty="0"/>
                        <a:t>-Greater effectiveness in </a:t>
                      </a:r>
                      <a:r>
                        <a:rPr lang="en-US" sz="800" b="1" dirty="0"/>
                        <a:t>clinical/subclinical populations</a:t>
                      </a:r>
                      <a:r>
                        <a:rPr lang="en-US" sz="800" dirty="0"/>
                        <a:t> than nonclinical groups.</a:t>
                      </a:r>
                    </a:p>
                    <a:p>
                      <a:r>
                        <a:rPr lang="en-US" sz="800" dirty="0"/>
                        <a:t>-Better outcomes when chatbots were delivered through </a:t>
                      </a:r>
                      <a:r>
                        <a:rPr lang="en-US" sz="800" b="1" dirty="0"/>
                        <a:t>instant messaging platforms</a:t>
                      </a:r>
                      <a:r>
                        <a:rPr lang="en-US" sz="800" dirty="0"/>
                        <a:t>.</a:t>
                      </a:r>
                    </a:p>
                    <a:p>
                      <a:r>
                        <a:rPr lang="en-US" sz="800" b="1" dirty="0"/>
                        <a:t>-Multimodal interaction</a:t>
                      </a:r>
                      <a:r>
                        <a:rPr lang="en-US" sz="800" dirty="0"/>
                        <a:t> and </a:t>
                      </a:r>
                      <a:r>
                        <a:rPr lang="en-US" sz="800" b="1" dirty="0"/>
                        <a:t>AI-based response generation</a:t>
                      </a:r>
                      <a:r>
                        <a:rPr lang="en-US" sz="800" dirty="0"/>
                        <a:t> produced stronger effects.</a:t>
                      </a:r>
                    </a:p>
                    <a:p>
                      <a:r>
                        <a:rPr lang="en-US" sz="800" dirty="0"/>
                        <a:t>-High feasibility and generally positive acceptability, though engagement varied.</a:t>
                      </a:r>
                    </a:p>
                    <a:p>
                      <a:pPr>
                        <a:lnSpc>
                          <a:spcPct val="100000"/>
                        </a:lnSpc>
                      </a:pP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TotalTime>
  <Words>366</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Calisto MT</vt:lpstr>
      <vt:lpstr>Symbol</vt:lpstr>
      <vt:lpstr>Times New Roman</vt:lpstr>
      <vt:lpstr>Wingdings</vt:lpstr>
      <vt:lpstr>Office</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dc:description/>
  <cp:lastModifiedBy>adityansalgare123@outlook.com</cp:lastModifiedBy>
  <cp:revision>358</cp:revision>
  <dcterms:created xsi:type="dcterms:W3CDTF">2025-11-19T17:57:59Z</dcterms:created>
  <dcterms:modified xsi:type="dcterms:W3CDTF">2025-11-26T19:25:14Z</dcterms:modified>
  <dc:language>en-US</dc:language>
</cp:coreProperties>
</file>