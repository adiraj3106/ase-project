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Lst>
  <p:sldIdLst>
    <p:sldId id="256" r:id="rId2"/>
  </p:sldIdLst>
  <p:sldSz cx="10080625" cy="567055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238" autoAdjust="0"/>
  </p:normalViewPr>
  <p:slideViewPr>
    <p:cSldViewPr snapToGrid="0">
      <p:cViewPr varScale="1">
        <p:scale>
          <a:sx n="89" d="100"/>
          <a:sy n="89" d="100"/>
        </p:scale>
        <p:origin x="356" y="-4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640" cy="946440"/>
          </a:xfrm>
          <a:prstGeom prst="rect">
            <a:avLst/>
          </a:prstGeom>
          <a:noFill/>
          <a:ln w="0">
            <a:noFill/>
          </a:ln>
        </p:spPr>
        <p:txBody>
          <a:bodyPr lIns="0" tIns="0" rIns="0" bIns="0" anchor="ctr">
            <a:noAutofit/>
          </a:bodyPr>
          <a:lstStyle/>
          <a:p>
            <a:pPr indent="0" algn="ctr">
              <a:buNone/>
            </a:pPr>
            <a:endParaRPr lang="en-US" sz="4400" b="0" u="none" strike="noStrike">
              <a:solidFill>
                <a:srgbClr val="FFFFFF"/>
              </a:solidFill>
              <a:uFillTx/>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B3431481-FBE4-4E37-8C2D-41785D9AD567}"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3"/>
          <a:stretch/>
        </a:blip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55280" y="503640"/>
            <a:ext cx="8559720" cy="802080"/>
          </a:xfrm>
          <a:prstGeom prst="rect">
            <a:avLst/>
          </a:prstGeom>
          <a:noFill/>
          <a:ln w="0">
            <a:noFill/>
          </a:ln>
          <a:effectLst>
            <a:outerShdw rotWithShape="0">
              <a:srgbClr val="000000">
                <a:alpha val="46000"/>
              </a:srgbClr>
            </a:outerShdw>
          </a:effectLst>
        </p:spPr>
        <p:txBody>
          <a:bodyPr lIns="91440" tIns="45720" rIns="91440" bIns="45720" anchor="ctr">
            <a:noAutofit/>
          </a:bodyPr>
          <a:lstStyle/>
          <a:p>
            <a:pPr indent="0" algn="ctr">
              <a:lnSpc>
                <a:spcPct val="100000"/>
              </a:lnSpc>
              <a:buNone/>
            </a:pPr>
            <a:r>
              <a:rPr lang="en-US" sz="4000" b="0" u="none" strike="noStrike">
                <a:solidFill>
                  <a:srgbClr val="E3E3E3"/>
                </a:solidFill>
                <a:uFillTx/>
                <a:latin typeface="Calisto MT"/>
              </a:rPr>
              <a:t>Click to edit Master title style</a:t>
            </a:r>
            <a:endParaRPr lang="en-US" sz="4000" b="0" u="none" strike="noStrike">
              <a:solidFill>
                <a:srgbClr val="FFFFFF"/>
              </a:solidFill>
              <a:uFillTx/>
              <a:latin typeface="Calisto MT"/>
            </a:endParaRPr>
          </a:p>
        </p:txBody>
      </p:sp>
      <p:sp>
        <p:nvSpPr>
          <p:cNvPr id="8" name="PlaceHolder 2"/>
          <p:cNvSpPr>
            <a:spLocks noGrp="1"/>
          </p:cNvSpPr>
          <p:nvPr>
            <p:ph type="dt" idx="4"/>
          </p:nvPr>
        </p:nvSpPr>
        <p:spPr>
          <a:xfrm>
            <a:off x="6348240" y="4863960"/>
            <a:ext cx="2267640" cy="301680"/>
          </a:xfrm>
          <a:prstGeom prst="rect">
            <a:avLst/>
          </a:prstGeom>
          <a:noFill/>
          <a:ln w="0">
            <a:noFill/>
          </a:ln>
        </p:spPr>
        <p:txBody>
          <a:bodyPr lIns="91440" tIns="45720" rIns="91440" bIns="45720" anchor="ctr">
            <a:noAutofit/>
          </a:bodyPr>
          <a:lstStyle>
            <a:lvl1pPr indent="0" algn="r">
              <a:lnSpc>
                <a:spcPct val="100000"/>
              </a:lnSpc>
              <a:buNone/>
              <a:defRPr lang="en-US" sz="1000" b="0" u="none" strike="noStrike">
                <a:solidFill>
                  <a:srgbClr val="F2F2F2"/>
                </a:solidFill>
                <a:uFillTx/>
                <a:latin typeface="Calisto MT"/>
              </a:defRPr>
            </a:lvl1pPr>
          </a:lstStyle>
          <a:p>
            <a:pPr indent="0" algn="r">
              <a:lnSpc>
                <a:spcPct val="100000"/>
              </a:lnSpc>
              <a:buNone/>
            </a:pPr>
            <a:fld id="{D17BE3F4-5B0C-4797-9781-3117FC609F15}" type="datetime">
              <a:rPr lang="en-US" sz="1000" b="0" u="none" strike="noStrike">
                <a:solidFill>
                  <a:srgbClr val="F2F2F2"/>
                </a:solidFill>
                <a:uFillTx/>
                <a:latin typeface="Calisto MT"/>
              </a:rPr>
              <a:t>11/28/2025</a:t>
            </a:fld>
            <a:endParaRPr lang="en-US" sz="1000" b="0" u="none" strike="noStrike">
              <a:solidFill>
                <a:srgbClr val="FFFFFF"/>
              </a:solidFill>
              <a:uFillTx/>
              <a:latin typeface="Times New Roman"/>
            </a:endParaRPr>
          </a:p>
        </p:txBody>
      </p:sp>
      <p:sp>
        <p:nvSpPr>
          <p:cNvPr id="9" name="PlaceHolder 3"/>
          <p:cNvSpPr>
            <a:spLocks noGrp="1"/>
          </p:cNvSpPr>
          <p:nvPr>
            <p:ph type="ftr" idx="5"/>
          </p:nvPr>
        </p:nvSpPr>
        <p:spPr>
          <a:xfrm>
            <a:off x="755280" y="4863960"/>
            <a:ext cx="5516640" cy="301680"/>
          </a:xfrm>
          <a:prstGeom prst="rect">
            <a:avLst/>
          </a:prstGeom>
          <a:noFill/>
          <a:ln w="0">
            <a:noFill/>
          </a:ln>
        </p:spPr>
        <p:txBody>
          <a:bodyPr lIns="91440" tIns="45720" rIns="91440" bIns="45720" anchor="ctr">
            <a:noAutofit/>
          </a:bodyPr>
          <a:lstStyle/>
          <a:p>
            <a:pPr indent="0">
              <a:buNone/>
            </a:pPr>
            <a:endParaRPr lang="en-US" sz="1000" b="0" u="none" strike="noStrike">
              <a:solidFill>
                <a:srgbClr val="FFFFFF"/>
              </a:solidFill>
              <a:uFillTx/>
              <a:latin typeface="Times New Roman"/>
            </a:endParaRPr>
          </a:p>
        </p:txBody>
      </p:sp>
      <p:sp>
        <p:nvSpPr>
          <p:cNvPr id="10" name="PlaceHolder 4"/>
          <p:cNvSpPr>
            <a:spLocks noGrp="1"/>
          </p:cNvSpPr>
          <p:nvPr>
            <p:ph type="sldNum" idx="6"/>
          </p:nvPr>
        </p:nvSpPr>
        <p:spPr>
          <a:xfrm>
            <a:off x="8692560" y="4863960"/>
            <a:ext cx="622800" cy="301680"/>
          </a:xfrm>
          <a:prstGeom prst="rect">
            <a:avLst/>
          </a:prstGeom>
          <a:noFill/>
          <a:ln w="0">
            <a:noFill/>
          </a:ln>
        </p:spPr>
        <p:txBody>
          <a:bodyPr lIns="91440" tIns="45720" rIns="91440" bIns="45720" anchor="ctr">
            <a:noAutofit/>
          </a:bodyPr>
          <a:lstStyle>
            <a:lvl1pPr indent="0" algn="r">
              <a:lnSpc>
                <a:spcPct val="100000"/>
              </a:lnSpc>
              <a:buNone/>
              <a:defRPr lang="en-US" sz="1000" b="0" u="none" strike="noStrike">
                <a:solidFill>
                  <a:srgbClr val="F2F2F2"/>
                </a:solidFill>
                <a:uFillTx/>
                <a:latin typeface="Calisto MT"/>
              </a:defRPr>
            </a:lvl1pPr>
          </a:lstStyle>
          <a:p>
            <a:pPr indent="0" algn="r">
              <a:lnSpc>
                <a:spcPct val="100000"/>
              </a:lnSpc>
              <a:buNone/>
            </a:pPr>
            <a:fld id="{9528C0D4-CE1E-4960-A569-2B04791483A7}" type="slidenum">
              <a:rPr lang="en-US" sz="1000" b="0" u="none" strike="noStrike">
                <a:solidFill>
                  <a:srgbClr val="F2F2F2"/>
                </a:solidFill>
                <a:uFillTx/>
                <a:latin typeface="Calisto MT"/>
              </a:rPr>
              <a:t>‹#›</a:t>
            </a:fld>
            <a:endParaRPr lang="en-US" sz="1000" b="0" u="none" strike="noStrike">
              <a:solidFill>
                <a:srgbClr val="FFFFFF"/>
              </a:solidFill>
              <a:uFillTx/>
              <a:latin typeface="Times New Roman"/>
            </a:endParaRPr>
          </a:p>
        </p:txBody>
      </p:sp>
      <p:sp>
        <p:nvSpPr>
          <p:cNvPr id="11" name="PlaceHolder 5"/>
          <p:cNvSpPr>
            <a:spLocks noGrp="1"/>
          </p:cNvSpPr>
          <p:nvPr>
            <p:ph type="body"/>
          </p:nvPr>
        </p:nvSpPr>
        <p:spPr>
          <a:xfrm>
            <a:off x="504000" y="1326240"/>
            <a:ext cx="9071640" cy="3288240"/>
          </a:xfrm>
          <a:prstGeom prst="rect">
            <a:avLst/>
          </a:prstGeom>
          <a:noFill/>
          <a:ln w="0">
            <a:noFill/>
          </a:ln>
        </p:spPr>
        <p:txBody>
          <a:bodyPr lIns="0" tIns="0" rIns="0" bIns="0" anchor="t">
            <a:normAutofit/>
          </a:bodyPr>
          <a:lstStyle/>
          <a:p>
            <a:pPr marL="432000" indent="-324000">
              <a:spcBef>
                <a:spcPts val="1168"/>
              </a:spcBef>
              <a:buClr>
                <a:srgbClr val="FFFFFF"/>
              </a:buClr>
              <a:buSzPct val="45000"/>
              <a:buFont typeface="Wingdings" charset="2"/>
              <a:buChar char=""/>
            </a:pPr>
            <a:r>
              <a:rPr lang="en-US" sz="1660" b="0" u="none" strike="noStrike">
                <a:solidFill>
                  <a:srgbClr val="E3E3E3"/>
                </a:solidFill>
                <a:uFillTx/>
                <a:latin typeface="Calisto MT"/>
              </a:rPr>
              <a:t>Click to edit the outline text format</a:t>
            </a:r>
          </a:p>
          <a:p>
            <a:pPr marL="864000" lvl="1" indent="-324000">
              <a:spcBef>
                <a:spcPts val="935"/>
              </a:spcBef>
              <a:buClr>
                <a:srgbClr val="FFFFFF"/>
              </a:buClr>
              <a:buSzPct val="75000"/>
              <a:buFont typeface="Symbol" charset="2"/>
              <a:buChar char=""/>
            </a:pPr>
            <a:r>
              <a:rPr lang="en-US" sz="1320" b="0" u="none" strike="noStrike">
                <a:solidFill>
                  <a:srgbClr val="E3E3E3"/>
                </a:solidFill>
                <a:uFillTx/>
                <a:latin typeface="Calisto MT"/>
              </a:rPr>
              <a:t>Second Outline Level</a:t>
            </a:r>
          </a:p>
          <a:p>
            <a:pPr marL="1296000" lvl="2" indent="-288000">
              <a:spcBef>
                <a:spcPts val="697"/>
              </a:spcBef>
              <a:buClr>
                <a:srgbClr val="FFFFFF"/>
              </a:buClr>
              <a:buSzPct val="45000"/>
              <a:buFont typeface="Wingdings" charset="2"/>
              <a:buChar char=""/>
            </a:pPr>
            <a:r>
              <a:rPr lang="en-US" sz="1160" b="0" u="none" strike="noStrike">
                <a:solidFill>
                  <a:srgbClr val="E3E3E3"/>
                </a:solidFill>
                <a:uFillTx/>
                <a:latin typeface="Calisto MT"/>
              </a:rPr>
              <a:t>Third Outline Level</a:t>
            </a:r>
          </a:p>
          <a:p>
            <a:pPr marL="1728000" lvl="3" indent="-216000">
              <a:spcBef>
                <a:spcPts val="468"/>
              </a:spcBef>
              <a:buClr>
                <a:srgbClr val="FFFFFF"/>
              </a:buClr>
              <a:buSzPct val="75000"/>
              <a:buFont typeface="Symbol" charset="2"/>
              <a:buChar char=""/>
            </a:pPr>
            <a:r>
              <a:rPr lang="en-US" sz="1160" b="0" u="none" strike="noStrike">
                <a:solidFill>
                  <a:srgbClr val="E3E3E3"/>
                </a:solidFill>
                <a:uFillTx/>
                <a:latin typeface="Calisto MT"/>
              </a:rPr>
              <a:t>Fourth Outline Level</a:t>
            </a:r>
          </a:p>
          <a:p>
            <a:pPr marL="2160000" lvl="4"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Fifth Outline Level</a:t>
            </a:r>
          </a:p>
          <a:p>
            <a:pPr marL="2592000" lvl="5"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Sixth Outline Level</a:t>
            </a:r>
          </a:p>
          <a:p>
            <a:pPr marL="3024000" lvl="6" indent="-216000">
              <a:spcBef>
                <a:spcPts val="232"/>
              </a:spcBef>
              <a:buClr>
                <a:srgbClr val="FFFFFF"/>
              </a:buClr>
              <a:buSzPct val="45000"/>
              <a:buFont typeface="Wingdings" charset="2"/>
              <a:buChar char=""/>
            </a:pPr>
            <a:r>
              <a:rPr lang="en-US" sz="1650" b="0" u="none" strike="noStrike">
                <a:solidFill>
                  <a:srgbClr val="E3E3E3"/>
                </a:solidFill>
                <a:uFillTx/>
                <a:latin typeface="Calisto MT"/>
              </a:rPr>
              <a:t>Seventh Outline Level</a:t>
            </a: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blip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758136" y="63881"/>
            <a:ext cx="8559720" cy="619200"/>
          </a:xfrm>
          <a:prstGeom prst="rect">
            <a:avLst/>
          </a:prstGeom>
          <a:noFill/>
          <a:ln w="0">
            <a:noFill/>
          </a:ln>
          <a:effectLst>
            <a:outerShdw rotWithShape="0">
              <a:srgbClr val="000000">
                <a:alpha val="46000"/>
              </a:srgbClr>
            </a:outerShdw>
          </a:effectLst>
        </p:spPr>
        <p:txBody>
          <a:bodyPr lIns="91440" tIns="45720" rIns="91440" bIns="45720" anchor="ctr">
            <a:normAutofit fontScale="90000"/>
          </a:bodyPr>
          <a:lstStyle/>
          <a:p>
            <a:pPr indent="0" algn="ctr">
              <a:lnSpc>
                <a:spcPct val="100000"/>
              </a:lnSpc>
              <a:buNone/>
            </a:pPr>
            <a:r>
              <a:rPr lang="en-US" sz="4000" b="0" u="none" strike="noStrike">
                <a:solidFill>
                  <a:srgbClr val="E3E3E3"/>
                </a:solidFill>
                <a:uFillTx/>
                <a:latin typeface="Calisto MT"/>
              </a:rPr>
              <a:t>Review</a:t>
            </a:r>
            <a:endParaRPr lang="en-US" sz="4000" b="0" u="none" strike="noStrike">
              <a:solidFill>
                <a:srgbClr val="FFFFFF"/>
              </a:solidFill>
              <a:uFillTx/>
              <a:latin typeface="Calisto MT"/>
            </a:endParaRPr>
          </a:p>
        </p:txBody>
      </p:sp>
      <p:graphicFrame>
        <p:nvGraphicFramePr>
          <p:cNvPr id="14" name="Table 2"/>
          <p:cNvGraphicFramePr/>
          <p:nvPr>
            <p:extLst>
              <p:ext uri="{D42A27DB-BD31-4B8C-83A1-F6EECF244321}">
                <p14:modId xmlns:p14="http://schemas.microsoft.com/office/powerpoint/2010/main" val="2123671598"/>
              </p:ext>
            </p:extLst>
          </p:nvPr>
        </p:nvGraphicFramePr>
        <p:xfrm>
          <a:off x="330434" y="0"/>
          <a:ext cx="9415124" cy="8613061"/>
        </p:xfrm>
        <a:graphic>
          <a:graphicData uri="http://schemas.openxmlformats.org/drawingml/2006/table">
            <a:tbl>
              <a:tblPr/>
              <a:tblGrid>
                <a:gridCol w="717931">
                  <a:extLst>
                    <a:ext uri="{9D8B030D-6E8A-4147-A177-3AD203B41FA5}">
                      <a16:colId xmlns:a16="http://schemas.microsoft.com/office/drawing/2014/main" val="20000"/>
                    </a:ext>
                  </a:extLst>
                </a:gridCol>
                <a:gridCol w="1932689">
                  <a:extLst>
                    <a:ext uri="{9D8B030D-6E8A-4147-A177-3AD203B41FA5}">
                      <a16:colId xmlns:a16="http://schemas.microsoft.com/office/drawing/2014/main" val="20001"/>
                    </a:ext>
                  </a:extLst>
                </a:gridCol>
                <a:gridCol w="1233996">
                  <a:extLst>
                    <a:ext uri="{9D8B030D-6E8A-4147-A177-3AD203B41FA5}">
                      <a16:colId xmlns:a16="http://schemas.microsoft.com/office/drawing/2014/main" val="20003"/>
                    </a:ext>
                  </a:extLst>
                </a:gridCol>
                <a:gridCol w="1409121">
                  <a:extLst>
                    <a:ext uri="{9D8B030D-6E8A-4147-A177-3AD203B41FA5}">
                      <a16:colId xmlns:a16="http://schemas.microsoft.com/office/drawing/2014/main" val="20004"/>
                    </a:ext>
                  </a:extLst>
                </a:gridCol>
                <a:gridCol w="1469810">
                  <a:extLst>
                    <a:ext uri="{9D8B030D-6E8A-4147-A177-3AD203B41FA5}">
                      <a16:colId xmlns:a16="http://schemas.microsoft.com/office/drawing/2014/main" val="20005"/>
                    </a:ext>
                  </a:extLst>
                </a:gridCol>
                <a:gridCol w="1385888">
                  <a:extLst>
                    <a:ext uri="{9D8B030D-6E8A-4147-A177-3AD203B41FA5}">
                      <a16:colId xmlns:a16="http://schemas.microsoft.com/office/drawing/2014/main" val="20006"/>
                    </a:ext>
                  </a:extLst>
                </a:gridCol>
                <a:gridCol w="1265689">
                  <a:extLst>
                    <a:ext uri="{9D8B030D-6E8A-4147-A177-3AD203B41FA5}">
                      <a16:colId xmlns:a16="http://schemas.microsoft.com/office/drawing/2014/main" val="20010"/>
                    </a:ext>
                  </a:extLst>
                </a:gridCol>
              </a:tblGrid>
              <a:tr h="924481">
                <a:tc>
                  <a:txBody>
                    <a:bodyPr/>
                    <a:lstStyle/>
                    <a:p>
                      <a:pPr>
                        <a:lnSpc>
                          <a:spcPct val="100000"/>
                        </a:lnSpc>
                      </a:pPr>
                      <a:r>
                        <a:rPr lang="en-US" sz="1800" b="1" u="none" strike="noStrike" dirty="0">
                          <a:solidFill>
                            <a:srgbClr val="FFFFFF"/>
                          </a:solidFill>
                          <a:uFillTx/>
                          <a:latin typeface="Calisto MT"/>
                        </a:rPr>
                        <a:t>Sr no</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Title Of Research Paper</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 Authors</a:t>
                      </a:r>
                      <a:endParaRPr lang="en-US" sz="1800" b="0" u="none" strike="noStrike" dirty="0">
                        <a:solidFill>
                          <a:srgbClr val="FFFFFF"/>
                        </a:solidFill>
                        <a:uFillTx/>
                        <a:latin typeface="Arial"/>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826F61"/>
                    </a:solidFill>
                  </a:tcPr>
                </a:tc>
                <a:tc>
                  <a:txBody>
                    <a:bodyPr/>
                    <a:lstStyle/>
                    <a:p>
                      <a:pPr>
                        <a:lnSpc>
                          <a:spcPct val="100000"/>
                        </a:lnSpc>
                      </a:pPr>
                      <a:r>
                        <a:rPr lang="en-US" sz="1800" b="1" u="none" strike="noStrike" dirty="0">
                          <a:solidFill>
                            <a:srgbClr val="FFFFFF"/>
                          </a:solidFill>
                          <a:uFillTx/>
                          <a:latin typeface="Calisto MT"/>
                        </a:rPr>
                        <a:t>Name Of Journal </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Date Of Publication</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Brief summary</a:t>
                      </a:r>
                      <a:endParaRPr lang="en-US" sz="1800" b="0" u="none" strike="noStrike" dirty="0">
                        <a:solidFill>
                          <a:srgbClr val="FFFFFF"/>
                        </a:solidFill>
                        <a:uFillTx/>
                        <a:latin typeface="Arial"/>
                      </a:endParaRPr>
                    </a:p>
                  </a:txBody>
                  <a:tcP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826F61"/>
                    </a:solidFill>
                  </a:tcPr>
                </a:tc>
                <a:tc>
                  <a:txBody>
                    <a:bodyPr/>
                    <a:lstStyle/>
                    <a:p>
                      <a:pPr>
                        <a:lnSpc>
                          <a:spcPct val="100000"/>
                        </a:lnSpc>
                      </a:pPr>
                      <a:r>
                        <a:rPr lang="en-US" sz="1800" b="1" u="none" strike="noStrike" dirty="0">
                          <a:solidFill>
                            <a:srgbClr val="FFFFFF"/>
                          </a:solidFill>
                          <a:uFillTx/>
                          <a:latin typeface="Calisto MT"/>
                        </a:rPr>
                        <a:t>Remarks</a:t>
                      </a:r>
                      <a:endParaRPr lang="en-US" sz="1800" b="0" u="none" strike="noStrike" dirty="0">
                        <a:solidFill>
                          <a:srgbClr val="FFFFFF"/>
                        </a:solidFill>
                        <a:uFillTx/>
                        <a:latin typeface="Arial"/>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826F61"/>
                    </a:solidFill>
                  </a:tcPr>
                </a:tc>
                <a:extLst>
                  <a:ext uri="{0D108BD9-81ED-4DB2-BD59-A6C34878D82A}">
                    <a16:rowId xmlns:a16="http://schemas.microsoft.com/office/drawing/2014/main" val="10000"/>
                  </a:ext>
                </a:extLst>
              </a:tr>
              <a:tr h="510718">
                <a:tc>
                  <a:txBody>
                    <a:bodyPr/>
                    <a:lstStyle/>
                    <a:p>
                      <a:pPr>
                        <a:lnSpc>
                          <a:spcPct val="100000"/>
                        </a:lnSpc>
                      </a:pPr>
                      <a:r>
                        <a:rPr lang="en-US" sz="1800" b="0" u="none" strike="noStrike" dirty="0">
                          <a:solidFill>
                            <a:srgbClr val="000000"/>
                          </a:solidFill>
                          <a:uFillTx/>
                          <a:latin typeface="Calisto MT"/>
                        </a:rPr>
                        <a:t>3.</a:t>
                      </a:r>
                      <a:endParaRPr lang="en-US" sz="1800" b="0" u="none" strike="noStrike" dirty="0">
                        <a:solidFill>
                          <a:srgbClr val="000000"/>
                        </a:solidFill>
                        <a:uFillTx/>
                        <a:latin typeface="Arial"/>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US" sz="1400" dirty="0"/>
                        <a:t>Effectiveness of a Web-based and Mobile Therapy Chatbot on Anxiety and Depressive Symptoms in Subclinical Young Adults: Randomized Controlled Trial</a:t>
                      </a: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pl-PL" sz="1000" dirty="0"/>
                        <a:t>Stanisław Karkosz, Robert Szymański, Katarzyna Sanna, Jarosław Michałowski</a:t>
                      </a:r>
                      <a:endParaRPr lang="en-US" sz="1000" dirty="0"/>
                    </a:p>
                  </a:txBody>
                  <a:tcPr>
                    <a:lnL w="12240" cap="flat" cmpd="sng" algn="ctr">
                      <a:solidFill>
                        <a:srgbClr val="FFFFFF"/>
                      </a:solidFill>
                      <a:prstDash val="solid"/>
                      <a:round/>
                      <a:headEnd type="none" w="med" len="med"/>
                      <a:tailEnd type="none" w="med" len="med"/>
                    </a:lnL>
                    <a:lnR w="12240">
                      <a:solidFill>
                        <a:srgbClr val="FFFFFF"/>
                      </a:solidFill>
                      <a:prstDash val="solid"/>
                    </a:lnR>
                    <a:lnT w="3816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D8D4D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000" b="1" dirty="0"/>
                        <a:t>JMIR Formative Research</a:t>
                      </a:r>
                      <a:br>
                        <a:rPr lang="en-IN" sz="1000" dirty="0"/>
                      </a:br>
                      <a:r>
                        <a:rPr lang="en-IN" sz="1000" dirty="0"/>
                        <a:t>(Volume 8, 2024, Article e47960</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IN" sz="1000" dirty="0"/>
                        <a:t>2024</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pPr lvl="0">
                        <a:lnSpc>
                          <a:spcPct val="100000"/>
                        </a:lnSpc>
                        <a:buNone/>
                      </a:pPr>
                      <a:r>
                        <a:rPr lang="en-US" sz="800" dirty="0"/>
                        <a:t>This randomized controlled trial evaluated the effectiveness of a Polish-language mental health chatbot (“Fido”) in reducing anxiety and depressive symptoms in subclinical young adults. Both the chatbot group and the active control group experienced reductions in symptoms, though the chatbot showed additional benefits for high-frequency users, especially in reducing perceived loneliness.</a:t>
                      </a:r>
                      <a:endParaRPr lang="en-US" sz="7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38160" cap="flat" cmpd="sng" algn="ctr">
                      <a:solidFill>
                        <a:srgbClr val="FFFFFF"/>
                      </a:solidFill>
                      <a:prstDash val="solid"/>
                      <a:round/>
                      <a:headEnd type="none" w="med" len="med"/>
                      <a:tailEnd type="none" w="med" len="med"/>
                    </a:lnT>
                    <a:lnB w="12240">
                      <a:solidFill>
                        <a:srgbClr val="FFFFFF"/>
                      </a:solidFill>
                      <a:prstDash val="solid"/>
                    </a:lnB>
                    <a:solidFill>
                      <a:srgbClr val="D8D4D2"/>
                    </a:solidFill>
                  </a:tcPr>
                </a:tc>
                <a:tc>
                  <a:txBody>
                    <a:bodyPr/>
                    <a:lstStyle/>
                    <a:p>
                      <a:r>
                        <a:rPr lang="en-US" sz="800" b="1" dirty="0"/>
                        <a:t>Key Findings</a:t>
                      </a:r>
                    </a:p>
                    <a:p>
                      <a:r>
                        <a:rPr lang="en-US" sz="800" dirty="0"/>
                        <a:t>-Both the chatbot (“Fido”) and control intervention </a:t>
                      </a:r>
                      <a:r>
                        <a:rPr lang="en-US" sz="800" b="1" dirty="0"/>
                        <a:t>significantly reduced anxiety and depressive symptoms</a:t>
                      </a:r>
                      <a:r>
                        <a:rPr lang="en-US" sz="800" dirty="0"/>
                        <a:t> after the intervention.</a:t>
                      </a:r>
                    </a:p>
                    <a:p>
                      <a:r>
                        <a:rPr lang="en-US" sz="800" dirty="0"/>
                        <a:t>-The chatbot did </a:t>
                      </a:r>
                      <a:r>
                        <a:rPr lang="en-US" sz="800" b="1" dirty="0"/>
                        <a:t>not outperform</a:t>
                      </a:r>
                      <a:r>
                        <a:rPr lang="en-US" sz="800" dirty="0"/>
                        <a:t> the active control overall, but </a:t>
                      </a:r>
                      <a:r>
                        <a:rPr lang="en-US" sz="800" b="1" dirty="0"/>
                        <a:t>high-frequency users showed a decline in loneliness</a:t>
                      </a:r>
                      <a:r>
                        <a:rPr lang="en-US" sz="800" dirty="0"/>
                        <a:t>, indicating dose-dependent benefits.</a:t>
                      </a:r>
                    </a:p>
                    <a:p>
                      <a:r>
                        <a:rPr lang="en-US" sz="800" dirty="0"/>
                        <a:t>-Reduction in symptoms remained </a:t>
                      </a:r>
                      <a:r>
                        <a:rPr lang="en-US" sz="800" b="1" dirty="0"/>
                        <a:t>stable at 1-month follow-up</a:t>
                      </a:r>
                      <a:r>
                        <a:rPr lang="en-US" sz="800" dirty="0"/>
                        <a:t>.</a:t>
                      </a:r>
                    </a:p>
                    <a:p>
                      <a:r>
                        <a:rPr lang="en-US" sz="800" dirty="0"/>
                        <a:t>-This study provides one of the </a:t>
                      </a:r>
                      <a:r>
                        <a:rPr lang="en-US" sz="800" b="1" dirty="0"/>
                        <a:t>first pieces of evidence of chatbot efficacy in highly inflected languages</a:t>
                      </a:r>
                      <a:r>
                        <a:rPr lang="en-US" sz="800" dirty="0"/>
                        <a:t> (Polish)</a:t>
                      </a:r>
                    </a:p>
                    <a:p>
                      <a:pPr lvl="0" algn="l">
                        <a:lnSpc>
                          <a:spcPct val="100000"/>
                        </a:lnSpc>
                        <a:spcBef>
                          <a:spcPts val="0"/>
                        </a:spcBef>
                        <a:spcAft>
                          <a:spcPts val="0"/>
                        </a:spcAft>
                        <a:buNone/>
                      </a:pPr>
                      <a:endParaRPr lang="en-US" sz="1100" b="0" i="0" u="none" strike="noStrike" noProof="0" dirty="0">
                        <a:solidFill>
                          <a:srgbClr val="000000"/>
                        </a:solidFill>
                        <a:uFillTx/>
                        <a:latin typeface="Calisto MT"/>
                      </a:endParaRPr>
                    </a:p>
                    <a:p>
                      <a:pPr lvl="0">
                        <a:lnSpc>
                          <a:spcPct val="100000"/>
                        </a:lnSpc>
                        <a:buNone/>
                      </a:pPr>
                      <a:endParaRPr lang="en-US" sz="145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38160" cap="flat" cmpd="sng" algn="ctr">
                      <a:solidFill>
                        <a:srgbClr val="FFFFFF"/>
                      </a:solidFill>
                      <a:prstDash val="solid"/>
                      <a:round/>
                      <a:headEnd type="none" w="med" len="med"/>
                      <a:tailEnd type="none" w="med" len="med"/>
                    </a:lnT>
                    <a:lnB w="12240" cap="flat" cmpd="sng" algn="ctr">
                      <a:solidFill>
                        <a:srgbClr val="FFFFFF"/>
                      </a:solidFill>
                      <a:prstDash val="solid"/>
                      <a:round/>
                      <a:headEnd type="none" w="med" len="med"/>
                      <a:tailEnd type="none" w="med" len="med"/>
                    </a:lnB>
                    <a:solidFill>
                      <a:srgbClr val="D8D4D2"/>
                    </a:solidFill>
                  </a:tcPr>
                </a:tc>
                <a:extLst>
                  <a:ext uri="{0D108BD9-81ED-4DB2-BD59-A6C34878D82A}">
                    <a16:rowId xmlns:a16="http://schemas.microsoft.com/office/drawing/2014/main" val="10001"/>
                  </a:ext>
                </a:extLst>
              </a:tr>
              <a:tr h="2761857">
                <a:tc>
                  <a:txBody>
                    <a:bodyPr/>
                    <a:lstStyle/>
                    <a:p>
                      <a:pPr>
                        <a:lnSpc>
                          <a:spcPct val="100000"/>
                        </a:lnSpc>
                      </a:pPr>
                      <a:r>
                        <a:rPr lang="en-US" sz="1800" b="0" u="none" strike="noStrike" dirty="0">
                          <a:solidFill>
                            <a:srgbClr val="000000"/>
                          </a:solidFill>
                          <a:uFillTx/>
                          <a:latin typeface="Arial"/>
                        </a:rPr>
                        <a:t>4.</a:t>
                      </a: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r>
                        <a:rPr lang="en-US" sz="1400" dirty="0"/>
                        <a:t>Development and Evaluation of a Mental Health Chatbot Using ChatGPT 4.0: Mixed Methods User Experience Study With Korean Users</a:t>
                      </a:r>
                      <a:endParaRPr lang="en-US" sz="12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r>
                        <a:rPr lang="en-IN" sz="1100" dirty="0"/>
                        <a:t>Boram Kang &amp; Min Hong</a:t>
                      </a:r>
                      <a:endParaRPr lang="en-US" sz="110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CEBEA"/>
                    </a:solidFill>
                  </a:tcPr>
                </a:tc>
                <a:tc>
                  <a:txBody>
                    <a:bodyPr/>
                    <a:lstStyle/>
                    <a:p>
                      <a:pPr lvl="0">
                        <a:lnSpc>
                          <a:spcPct val="100000"/>
                        </a:lnSpc>
                        <a:buNone/>
                      </a:pPr>
                      <a:r>
                        <a:rPr lang="en-IN" sz="1000" b="1" dirty="0"/>
                        <a:t>JMIR Medical Informatics</a:t>
                      </a:r>
                      <a:br>
                        <a:rPr lang="en-IN" sz="1000" dirty="0"/>
                      </a:br>
                      <a:r>
                        <a:rPr lang="en-IN" sz="1000" dirty="0"/>
                        <a:t>Volume 13, Article e63538</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a:lnSpc>
                          <a:spcPct val="100000"/>
                        </a:lnSpc>
                      </a:pPr>
                      <a:r>
                        <a:rPr lang="en-IN" sz="1000" dirty="0"/>
                        <a:t>January 3, 2025</a:t>
                      </a:r>
                      <a:endParaRPr lang="en-US" sz="1000" b="0" u="none" strike="noStrike" dirty="0">
                        <a:solidFill>
                          <a:srgbClr val="000000"/>
                        </a:solidFill>
                        <a:uFillTx/>
                        <a:latin typeface="Calisto MT"/>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pPr lvl="0">
                        <a:lnSpc>
                          <a:spcPct val="100000"/>
                        </a:lnSpc>
                        <a:buNone/>
                      </a:pPr>
                      <a:r>
                        <a:rPr lang="en-US" sz="900" dirty="0"/>
                        <a:t>This study presents the development and user-experience evaluation of </a:t>
                      </a:r>
                      <a:r>
                        <a:rPr lang="en-US" sz="900" b="1" dirty="0" err="1"/>
                        <a:t>HoMemeTown</a:t>
                      </a:r>
                      <a:r>
                        <a:rPr lang="en-US" sz="900" b="1" dirty="0"/>
                        <a:t> Dr. </a:t>
                      </a:r>
                      <a:r>
                        <a:rPr lang="en-US" sz="900" b="1" dirty="0" err="1"/>
                        <a:t>CareSam</a:t>
                      </a:r>
                      <a:r>
                        <a:rPr lang="en-US" sz="900" dirty="0"/>
                        <a:t>, a mental health support chatbot powered by </a:t>
                      </a:r>
                      <a:r>
                        <a:rPr lang="en-US" sz="900" b="1" dirty="0"/>
                        <a:t>ChatGPT 4.0</a:t>
                      </a:r>
                      <a:r>
                        <a:rPr lang="en-US" sz="900" dirty="0"/>
                        <a:t> and designed for Korean and English speakers. Results show that the chatbot provides strong empathetic responses, effective counseling characteristics, and higher satisfaction than other LLM-based and digital therapy tools. The pilot study highlights its potential for college student mental health support.</a:t>
                      </a: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CEBEA"/>
                    </a:solidFill>
                  </a:tcPr>
                </a:tc>
                <a:tc>
                  <a:txBody>
                    <a:bodyPr/>
                    <a:lstStyle/>
                    <a:p>
                      <a:r>
                        <a:rPr lang="en-US" sz="800" b="1" dirty="0"/>
                        <a:t>Key Findings</a:t>
                      </a:r>
                    </a:p>
                    <a:p>
                      <a:r>
                        <a:rPr lang="en-US" sz="800" dirty="0"/>
                        <a:t>-The chatbot demonstrated </a:t>
                      </a:r>
                      <a:r>
                        <a:rPr lang="en-US" sz="800" b="1" dirty="0"/>
                        <a:t>high performance in empathy, counseling ability, and user-friendliness</a:t>
                      </a:r>
                      <a:r>
                        <a:rPr lang="en-US" sz="800" dirty="0"/>
                        <a:t>, aligning with prior research on digital mental health tools.</a:t>
                      </a:r>
                      <a:br>
                        <a:rPr lang="en-US" sz="800" dirty="0"/>
                      </a:br>
                      <a:r>
                        <a:rPr lang="en-US" sz="800" dirty="0"/>
                        <a:t>-Performed </a:t>
                      </a:r>
                      <a:r>
                        <a:rPr lang="en-US" sz="800" b="1" dirty="0"/>
                        <a:t>significantly better</a:t>
                      </a:r>
                      <a:r>
                        <a:rPr lang="en-US" sz="800" dirty="0"/>
                        <a:t> than free versions of ChatGPT, Google Bard, and therapy apps such as </a:t>
                      </a:r>
                      <a:r>
                        <a:rPr lang="en-US" sz="800" b="1" dirty="0" err="1"/>
                        <a:t>Woebot</a:t>
                      </a:r>
                      <a:r>
                        <a:rPr lang="en-US" sz="800" dirty="0"/>
                        <a:t> and </a:t>
                      </a:r>
                      <a:r>
                        <a:rPr lang="en-US" sz="800" b="1" dirty="0"/>
                        <a:t>Happify</a:t>
                      </a:r>
                      <a:r>
                        <a:rPr lang="en-US" sz="800" dirty="0"/>
                        <a:t> (ANOVA F=3.27 and F=12.94).</a:t>
                      </a:r>
                      <a:br>
                        <a:rPr lang="en-US" sz="800" dirty="0"/>
                      </a:br>
                      <a:r>
                        <a:rPr lang="en-US" sz="800" dirty="0"/>
                        <a:t>-Integrated </a:t>
                      </a:r>
                      <a:r>
                        <a:rPr lang="en-US" sz="800" b="1" dirty="0"/>
                        <a:t>DSM-5–based risk detection</a:t>
                      </a:r>
                      <a:r>
                        <a:rPr lang="en-US" sz="800" dirty="0"/>
                        <a:t> to identify possible mental health crises.</a:t>
                      </a:r>
                    </a:p>
                    <a:p>
                      <a:r>
                        <a:rPr lang="en-US" sz="800" dirty="0"/>
                        <a:t>-Identified limitations: slower response speed and some unnatural expressions in the Korean version, and challenges balancing personalization with user privacy.</a:t>
                      </a:r>
                    </a:p>
                    <a:p>
                      <a:r>
                        <a:rPr lang="en-US" sz="800" dirty="0"/>
                        <a:t>.</a:t>
                      </a:r>
                    </a:p>
                    <a:p>
                      <a:pPr>
                        <a:lnSpc>
                          <a:spcPct val="100000"/>
                        </a:lnSpc>
                      </a:pPr>
                      <a:endParaRPr lang="en-US" sz="1100" b="0" u="none" strike="noStrike" dirty="0">
                        <a:solidFill>
                          <a:srgbClr val="000000"/>
                        </a:solidFill>
                        <a:uFillTx/>
                        <a:latin typeface="Calisto MT"/>
                      </a:endParaRPr>
                    </a:p>
                  </a:txBody>
                  <a:tcPr>
                    <a:lnL w="12240" cap="flat" cmpd="sng" algn="ctr">
                      <a:solidFill>
                        <a:srgbClr val="FFFFFF"/>
                      </a:solidFill>
                      <a:prstDash val="solid"/>
                      <a:round/>
                      <a:headEnd type="none" w="med" len="med"/>
                      <a:tailEnd type="none" w="med" len="me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CEBEA"/>
                    </a:solidFill>
                  </a:tcPr>
                </a:tc>
                <a:extLst>
                  <a:ext uri="{0D108BD9-81ED-4DB2-BD59-A6C34878D82A}">
                    <a16:rowId xmlns:a16="http://schemas.microsoft.com/office/drawing/2014/main" val="10002"/>
                  </a:ext>
                </a:extLst>
              </a:tr>
            </a:tbl>
          </a:graphicData>
        </a:graphic>
      </p:graphicFrame>
    </p:spTree>
  </p:cSld>
  <p:clrMapOvr>
    <a:masterClrMapping/>
  </p:clrMapOvr>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98</TotalTime>
  <Words>407</Words>
  <Application>Microsoft Office PowerPoint</Application>
  <PresentationFormat>Custom</PresentationFormat>
  <Paragraphs>29</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Calisto MT</vt:lpstr>
      <vt:lpstr>Symbol</vt:lpstr>
      <vt:lpstr>Times New Roman</vt:lpstr>
      <vt:lpstr>Wingdings</vt:lpstr>
      <vt:lpstr>Office</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Lenovo</dc:creator>
  <dc:description/>
  <cp:lastModifiedBy>adityansalgare123@outlook.com</cp:lastModifiedBy>
  <cp:revision>359</cp:revision>
  <dcterms:created xsi:type="dcterms:W3CDTF">2025-11-19T17:57:59Z</dcterms:created>
  <dcterms:modified xsi:type="dcterms:W3CDTF">2025-11-27T19:01:44Z</dcterms:modified>
  <dc:language>en-US</dc:language>
</cp:coreProperties>
</file>